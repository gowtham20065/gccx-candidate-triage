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Recruiters today triage hundreds of applicants using spreadsheets and gut feel. Our goal was to build a functional candidate triage prototype combining fast in-memory ranking with evidence-grounded AI decision support.</a:t>
            </a:r>
          </a:p>
          <a:p>
            <a:r>
              <a:t>We made two foundational architectural decisions upfront: first, recruiter triage decisions must persist non-destructively across server restarts; second, the single AI feature should directly solve the recruiter's hardest problem—evaluating applicant qualifications against a specific job description with verifiable evidence and explicit gap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Recruiters today triage hundreds of applicants using spreadsheets and gut feel. Our goal was to deliver a functional candidate triage prototype: responsive UI, normalized SQLite persistence, fast algorithmic ranking, and exactly one high-value live LLM feature.</a:t>
            </a:r>
          </a:p>
          <a:p>
            <a:r>
              <a:t>We established three core assumptions: first, database re-seeding must never overwrite recruiter status decisions; second, SQLite must be modeled in 3NF with indexed foreign keys rather than storing flat JSON; and third, the AI feature should focus squarely on qualification gap analysis against specific job descriptions rather than generic 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system architecture. Rather than treating SQLite as a flat JSON store, we modeled a normalized Third Normal Form schema with a dedicated skills dictionary and foreign-key junction table. This gives us clean relational integrity, eliminates duplicate skills, and provides fast indexed lookups.</a:t>
            </a:r>
          </a:p>
          <a:p>
            <a:r>
              <a:t>Our seed script is idempotent: it updates biographical records on conflict but deliberately omits the triage status column, preserving recruiter decisions across restarts. We also added dedicated single-query endpoints for triage stats, roles, and sources, eliminating client-side polling overhead.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Task 2a, we tackled ranking candidates at scale. The naive baseline sorts all 100,000 candidates with an O(N log N) comparator. Our Bucket Sort partitions candidates by distinct skill matches in linear time.</a:t>
            </a:r>
          </a:p>
          <a:p>
            <a:r>
              <a:t>Here are the honest benchmark numbers: if you sort all 100,000 candidates, Bucket Sort gives about 1x—virtually no speedup over baseline sorting—because every non-empty bucket still has to be sorted with the tie-breaker. But for Top-K queries where a recruiter only needs the top 100 matches, early exit skips sorting lower buckets entirely, giving a real ~2x speedup (2.59x median).</a:t>
            </a:r>
          </a:p>
          <a:p>
            <a:r>
              <a:t>If we were building this for repeated production queries, we would implement an Inverted Index, which skips candidates with zero matches without even an O(N) scan.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2b was a realistic assessment of reviewing AI code. The snippet looked plausible at first glance, but contained two fatal bugs and several design smells: an undeclared loop variable, an off-by-one loop boundary that crashes with a TypeError on the last candidate, an array assigned to score, and array subtraction in the comparator that evaluates to NaN.</a:t>
            </a:r>
          </a:p>
          <a:p>
            <a:r>
              <a:t>Our takeaway is fundamental to AI-native engineering: AI is exceptional at accelerating boilerplate, but blind acceptance without rigorous line-by-line verification, typing, and automated testing introduces silent, catastrophic failures.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live recruiter operations dashboard in action. At the top, we see real-time status KPI cards displaying 48 total candidates. As recruiters apply filters or search for specific skills, the candidate table updates instantly with debounced queries.</a:t>
            </a:r>
          </a:p>
          <a:p>
            <a:r>
              <a:t>When a recruiter clicks 'Shortlist' or 'Reject', the state persists immediately to SQLite via PATCH /api/candidates/:id/status. As seen in the bottom screenshot, a green toast notification confirms 'Candidate Kavya Kaur successfully updated to shortlisted', and the Shortlisted KPI counter increments to 1 without requiring a full page refresh.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single implemented AI feature in the live application. When the recruiter opens a candidate drawer, they select a job description preset—like Frontend Engineer—and trigger 'Evaluate Fit with Gemini'.</a:t>
            </a:r>
          </a:p>
          <a:p>
            <a:r>
              <a:t>The backend retrieves verified profile facts directly from SQLite, wraps user inputs in XML fence tags to mitigate prompt injection, and calls gemini-3.8-flash with a structured JSON schema.</a:t>
            </a:r>
          </a:p>
          <a:p>
            <a:r>
              <a:t>As shown on screen for Kavya Kaur, Gemini correctly classifies the fit as WEAK. Notice why: although she has 1 year at a startup, her documented skills are backend technologies like Java, Python, and Redis, lacking verified React or TypeScript. Rather than a black-box score, it provides specific interview probing questions for the recruiter.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Task 4, leadership asked how to scale this to 3,000 candidates a week with 2 engineers in 2 weeks. Our judgment starts by identifying the fatal flaw of a naive approach: if you use a raw keyword tag pre-filter to drop 90% of applicants, you will silently reject qualified candidates because resumes have varied terminology like 'Postgres' versus 'RDBMS'.</a:t>
            </a:r>
          </a:p>
          <a:p>
            <a:r>
              <a:t>So instead of an automated global top-10% cutoff, we build an asynchronous ingestion queue per requisition, and let recruiters manually select batches of candidates to evaluate with Gemini. Combined with hashed caching in Redis and bulk audit logs, this gives recruiters speed without biased auto-rejections.</a:t>
            </a:r>
          </a:p>
          <a:p>
            <a:r>
              <a:t>To conclude, we delivered a complete TypeScript monorepo, 75 passing tests, honest benchmark data, an accessible React dashboard, and a grounded Gemini integration—achieved with disciplined scope and defensible code.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4114800" cy="347472"/>
          </a:xfrm>
          <a:prstGeom prst="roundRect">
            <a:avLst/>
          </a:prstGeom>
          <a:solidFill>
            <a:srgbClr val="1E293B"/>
          </a:solidFill>
          <a:ln>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GCCX GLOBAL AI FULL-STACK ENGINEER INTERN — ROUND 1</a:t>
            </a:r>
          </a:p>
        </p:txBody>
      </p:sp>
      <p:sp>
        <p:nvSpPr>
          <p:cNvPr id="4" name="TextBox 3"/>
          <p:cNvSpPr txBox="1"/>
          <p:nvPr/>
        </p:nvSpPr>
        <p:spPr>
          <a:xfrm>
            <a:off x="731520" y="1645920"/>
            <a:ext cx="10698480" cy="1097280"/>
          </a:xfrm>
          <a:prstGeom prst="rect">
            <a:avLst/>
          </a:prstGeom>
          <a:noFill/>
        </p:spPr>
        <p:txBody>
          <a:bodyPr wrap="none">
            <a:spAutoFit/>
          </a:bodyPr>
          <a:lstStyle/>
          <a:p>
            <a:pPr>
              <a:defRPr sz="3600" b="1">
                <a:solidFill>
                  <a:srgbClr val="F8FAFC"/>
                </a:solidFill>
              </a:defRPr>
            </a:pPr>
            <a:r>
              <a:t>Candidate Triage Operations Platform</a:t>
            </a:r>
          </a:p>
        </p:txBody>
      </p:sp>
      <p:sp>
        <p:nvSpPr>
          <p:cNvPr id="5" name="TextBox 4"/>
          <p:cNvSpPr txBox="1"/>
          <p:nvPr/>
        </p:nvSpPr>
        <p:spPr>
          <a:xfrm>
            <a:off x="731520" y="2743200"/>
            <a:ext cx="10698480" cy="548640"/>
          </a:xfrm>
          <a:prstGeom prst="rect">
            <a:avLst/>
          </a:prstGeom>
          <a:noFill/>
        </p:spPr>
        <p:txBody>
          <a:bodyPr wrap="none">
            <a:spAutoFit/>
          </a:bodyPr>
          <a:lstStyle/>
          <a:p>
            <a:pPr>
              <a:defRPr sz="1600">
                <a:solidFill>
                  <a:srgbClr val="94A3B8"/>
                </a:solidFill>
              </a:defRPr>
            </a:pPr>
            <a:r>
              <a:t>Fast Algorithmic Screening, 3NF SQLite Persistence &amp; Grounded Gemini Decision Support</a:t>
            </a:r>
          </a:p>
        </p:txBody>
      </p:sp>
      <p:sp>
        <p:nvSpPr>
          <p:cNvPr id="6" name="Rounded Rectangle 5"/>
          <p:cNvSpPr/>
          <p:nvPr/>
        </p:nvSpPr>
        <p:spPr>
          <a:xfrm>
            <a:off x="731520" y="3840480"/>
            <a:ext cx="2514600" cy="201168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Fast Candidate Ranking</a:t>
            </a:r>
          </a:p>
          <a:p>
            <a:pPr>
              <a:defRPr sz="1100">
                <a:solidFill>
                  <a:srgbClr val="94A3B8"/>
                </a:solidFill>
              </a:defRPr>
            </a:pPr>
            <a:r>
              <a:t>100k synthetic dataset; 102 ms Top-100 early exit (~2x speedup / 2.59x median)</a:t>
            </a:r>
          </a:p>
        </p:txBody>
      </p:sp>
      <p:sp>
        <p:nvSpPr>
          <p:cNvPr id="7" name="Rounded Rectangle 6"/>
          <p:cNvSpPr/>
          <p:nvPr/>
        </p:nvSpPr>
        <p:spPr>
          <a:xfrm>
            <a:off x="3465576" y="3840480"/>
            <a:ext cx="2514600" cy="201168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818CF8"/>
                </a:solidFill>
              </a:defRPr>
            </a:pPr>
            <a:r>
              <a:t>3NF Normalized Storage</a:t>
            </a:r>
          </a:p>
          <a:p>
            <a:pPr>
              <a:defRPr sz="1100">
                <a:solidFill>
                  <a:srgbClr val="94A3B8"/>
                </a:solidFill>
              </a:defRPr>
            </a:pPr>
            <a:r>
              <a:t>SQLite WAL mode, cascade deletions, non-destructive re-seeding</a:t>
            </a:r>
          </a:p>
        </p:txBody>
      </p:sp>
      <p:sp>
        <p:nvSpPr>
          <p:cNvPr id="8" name="Rounded Rectangle 7"/>
          <p:cNvSpPr/>
          <p:nvPr/>
        </p:nvSpPr>
        <p:spPr>
          <a:xfrm>
            <a:off x="6199632" y="3840480"/>
            <a:ext cx="2514600" cy="201168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Live Grounded Gemini AI</a:t>
            </a:r>
          </a:p>
          <a:p>
            <a:pPr>
              <a:defRPr sz="1100">
                <a:solidFill>
                  <a:srgbClr val="94A3B8"/>
                </a:solidFill>
              </a:defRPr>
            </a:pPr>
            <a:r>
              <a:t>gemini-3.8-flash structured fit summary &amp; interview probing flags</a:t>
            </a:r>
          </a:p>
        </p:txBody>
      </p:sp>
      <p:sp>
        <p:nvSpPr>
          <p:cNvPr id="9" name="Rounded Rectangle 8"/>
          <p:cNvSpPr/>
          <p:nvPr/>
        </p:nvSpPr>
        <p:spPr>
          <a:xfrm>
            <a:off x="8933688" y="3840480"/>
            <a:ext cx="2514600" cy="201168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Production Test Suite</a:t>
            </a:r>
          </a:p>
          <a:p>
            <a:pPr>
              <a:defRPr sz="1100">
                <a:solidFill>
                  <a:srgbClr val="94A3B8"/>
                </a:solidFill>
              </a:defRPr>
            </a:pPr>
            <a:r>
              <a:t>75 passing automated tests (65 backend in ~25s, 10 frontend in ~2.8s)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CONTEXT &amp; REQUIREMENTS</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02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The Problem, Scope &amp; Core Assumptions</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Transitioning recruiters from static spreadsheets to a reliable, persistent triage operations platform</a:t>
            </a:r>
          </a:p>
        </p:txBody>
      </p:sp>
      <p:sp>
        <p:nvSpPr>
          <p:cNvPr id="7" name="Rounded Rectangle 6"/>
          <p:cNvSpPr/>
          <p:nvPr/>
        </p:nvSpPr>
        <p:spPr>
          <a:xfrm>
            <a:off x="731520" y="1691640"/>
            <a:ext cx="521208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The Core Problem &amp; Mandate</a:t>
            </a:r>
          </a:p>
          <a:p>
            <a:pPr>
              <a:spcAft>
                <a:spcPts val="600"/>
              </a:spcAft>
            </a:pPr>
            <a:r>
              <a:rPr b="1" sz="1100">
                <a:solidFill>
                  <a:srgbClr val="F8FAFC"/>
                </a:solidFill>
              </a:rPr>
              <a:t>The Problem: </a:t>
            </a:r>
            <a:r>
              <a:rPr sz="1100">
                <a:solidFill>
                  <a:srgbClr val="94A3B8"/>
                </a:solidFill>
              </a:rPr>
              <a:t>Recruiters triage hundreds of candidates across static spreadsheets with subjective gut-feel, slow screening cycles, and no persistent decision tracking.</a:t>
            </a:r>
          </a:p>
          <a:p>
            <a:pPr>
              <a:spcAft>
                <a:spcPts val="600"/>
              </a:spcAft>
            </a:pPr>
            <a:r>
              <a:rPr b="1" sz="1100">
                <a:solidFill>
                  <a:srgbClr val="F8FAFC"/>
                </a:solidFill>
              </a:rPr>
              <a:t>Full-Stack Dashboard: </a:t>
            </a:r>
            <a:r>
              <a:rPr sz="1100">
                <a:solidFill>
                  <a:srgbClr val="94A3B8"/>
                </a:solidFill>
              </a:rPr>
              <a:t>Provide interactive multi-criteria filtering, debounced search, and immediate triage mutations (Untriaged -&gt; Shortlisted / Rejected).</a:t>
            </a:r>
          </a:p>
          <a:p>
            <a:pPr>
              <a:spcAft>
                <a:spcPts val="600"/>
              </a:spcAft>
            </a:pPr>
            <a:r>
              <a:rPr b="1" sz="1100">
                <a:solidFill>
                  <a:srgbClr val="F8FAFC"/>
                </a:solidFill>
              </a:rPr>
              <a:t>Normalized Persistence: </a:t>
            </a:r>
            <a:r>
              <a:rPr sz="1100">
                <a:solidFill>
                  <a:srgbClr val="94A3B8"/>
                </a:solidFill>
              </a:rPr>
              <a:t>Implement a relational SQLite backend that persists recruiter actions non-destructively across server restarts.</a:t>
            </a:r>
          </a:p>
          <a:p>
            <a:pPr>
              <a:spcAft>
                <a:spcPts val="600"/>
              </a:spcAft>
            </a:pPr>
            <a:r>
              <a:rPr b="1" sz="1100">
                <a:solidFill>
                  <a:srgbClr val="F8FAFC"/>
                </a:solidFill>
              </a:rPr>
              <a:t>Targeted AI Feature: </a:t>
            </a:r>
            <a:r>
              <a:rPr sz="1100">
                <a:solidFill>
                  <a:srgbClr val="94A3B8"/>
                </a:solidFill>
              </a:rPr>
              <a:t>Integrate exactly ONE high-value LLM capability rather than scattered gimmicks.</a:t>
            </a:r>
          </a:p>
          <a:p>
            <a:pPr>
              <a:spcAft>
                <a:spcPts val="600"/>
              </a:spcAft>
            </a:pPr>
            <a:r>
              <a:rPr b="1" sz="1100">
                <a:solidFill>
                  <a:srgbClr val="F8FAFC"/>
                </a:solidFill>
              </a:rPr>
              <a:t>Scalable Ranking: </a:t>
            </a:r>
            <a:r>
              <a:rPr sz="1100">
                <a:solidFill>
                  <a:srgbClr val="94A3B8"/>
                </a:solidFill>
              </a:rPr>
              <a:t>Implement and evaluate deterministic candidate ranking across a 100,000 synthetic candidate benchmark.</a:t>
            </a:r>
          </a:p>
        </p:txBody>
      </p:sp>
      <p:sp>
        <p:nvSpPr>
          <p:cNvPr id="8" name="Rounded Rectangle 7"/>
          <p:cNvSpPr/>
          <p:nvPr/>
        </p:nvSpPr>
        <p:spPr>
          <a:xfrm>
            <a:off x="6217920" y="1691640"/>
            <a:ext cx="521208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818CF8"/>
                </a:solidFill>
              </a:defRPr>
            </a:pPr>
            <a:r>
              <a:t>Key Architectural Assumptions</a:t>
            </a:r>
          </a:p>
          <a:p>
            <a:pPr>
              <a:spcAft>
                <a:spcPts val="600"/>
              </a:spcAft>
            </a:pPr>
            <a:r>
              <a:rPr b="1" sz="1100">
                <a:solidFill>
                  <a:srgbClr val="F8FAFC"/>
                </a:solidFill>
              </a:rPr>
              <a:t>Non-Destructive Seeding: </a:t>
            </a:r>
            <a:r>
              <a:rPr sz="1100">
                <a:solidFill>
                  <a:srgbClr val="94A3B8"/>
                </a:solidFill>
              </a:rPr>
              <a:t>Re-seeding SQLite from JSON must update biographical data on conflict but deliberately omit the status column, preserving recruiter decisions across restarts.</a:t>
            </a:r>
          </a:p>
          <a:p>
            <a:pPr>
              <a:spcAft>
                <a:spcPts val="600"/>
              </a:spcAft>
            </a:pPr>
            <a:r>
              <a:rPr b="1" sz="1100">
                <a:solidFill>
                  <a:srgbClr val="F8FAFC"/>
                </a:solidFill>
              </a:rPr>
              <a:t>3NF Relational Modeling: </a:t>
            </a:r>
            <a:r>
              <a:rPr sz="1100">
                <a:solidFill>
                  <a:srgbClr val="94A3B8"/>
                </a:solidFill>
              </a:rPr>
              <a:t>Normalize candidate skills into a dictionary and many-to-many junction table to guarantee relational integrity, eliminate duplicate tags, and support fast indexed queries.</a:t>
            </a:r>
          </a:p>
          <a:p>
            <a:pPr>
              <a:spcAft>
                <a:spcPts val="600"/>
              </a:spcAft>
            </a:pPr>
            <a:r>
              <a:rPr b="1" sz="1100">
                <a:solidFill>
                  <a:srgbClr val="F8FAFC"/>
                </a:solidFill>
              </a:rPr>
              <a:t>High-Leverage AI Value: </a:t>
            </a:r>
            <a:r>
              <a:rPr sz="1100">
                <a:solidFill>
                  <a:srgbClr val="94A3B8"/>
                </a:solidFill>
              </a:rPr>
              <a:t>Evidence-grounded candidate-fit evaluation against recruiter job descriptions delivers 10x higher triage value than generic semantic search over 48 mock candidates.</a:t>
            </a:r>
          </a:p>
          <a:p>
            <a:pPr>
              <a:spcAft>
                <a:spcPts val="600"/>
              </a:spcAft>
            </a:pPr>
            <a:r>
              <a:rPr b="1" sz="1100">
                <a:solidFill>
                  <a:srgbClr val="F8FAFC"/>
                </a:solidFill>
              </a:rPr>
              <a:t>Zero External Test Calls: </a:t>
            </a:r>
            <a:r>
              <a:rPr sz="1100">
                <a:solidFill>
                  <a:srgbClr val="94A3B8"/>
                </a:solidFill>
              </a:rPr>
              <a:t>Automated test suites must run 100% deterministically with mocked provider responses to avoid token costs and internet dependencies.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SYSTEM ARCHITECTURE</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03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Full-Stack Architecture &amp; Normalized Data Layer</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Layered TypeScript monorepo with 3NF relational schema and strict validation</a:t>
            </a:r>
          </a:p>
        </p:txBody>
      </p:sp>
      <p:sp>
        <p:nvSpPr>
          <p:cNvPr id="7" name="Rounded Rectangle 6"/>
          <p:cNvSpPr/>
          <p:nvPr/>
        </p:nvSpPr>
        <p:spPr>
          <a:xfrm>
            <a:off x="731520" y="1691640"/>
            <a:ext cx="5212080" cy="283464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Layered TypeScript Monorepo</a:t>
            </a:r>
          </a:p>
          <a:p>
            <a:pPr>
              <a:spcAft>
                <a:spcPts val="600"/>
              </a:spcAft>
            </a:pPr>
            <a:r>
              <a:rPr b="1" sz="1100">
                <a:solidFill>
                  <a:srgbClr val="F8FAFC"/>
                </a:solidFill>
              </a:rPr>
              <a:t>Frontend Workspace: </a:t>
            </a:r>
            <a:r>
              <a:rPr sz="1100">
                <a:solidFill>
                  <a:srgbClr val="94A3B8"/>
                </a:solidFill>
              </a:rPr>
              <a:t>React 18 + Vite with accessibility-conscious styling, debounced filtering, KPI metrics, and slide-out candidate details drawer.</a:t>
            </a:r>
          </a:p>
          <a:p>
            <a:pPr>
              <a:spcAft>
                <a:spcPts val="600"/>
              </a:spcAft>
            </a:pPr>
            <a:r>
              <a:rPr b="1" sz="1100">
                <a:solidFill>
                  <a:srgbClr val="F8FAFC"/>
                </a:solidFill>
              </a:rPr>
              <a:t>Backend Workspace: </a:t>
            </a:r>
            <a:r>
              <a:rPr sz="1100">
                <a:solidFill>
                  <a:srgbClr val="94A3B8"/>
                </a:solidFill>
              </a:rPr>
              <a:t>Express 4 + Node.js 22 with dependency-injected database and Gemini AI service layers.</a:t>
            </a:r>
          </a:p>
          <a:p>
            <a:pPr>
              <a:spcAft>
                <a:spcPts val="600"/>
              </a:spcAft>
            </a:pPr>
            <a:r>
              <a:rPr b="1" sz="1100">
                <a:solidFill>
                  <a:srgbClr val="F8FAFC"/>
                </a:solidFill>
              </a:rPr>
              <a:t>Defensive Validation: </a:t>
            </a:r>
            <a:r>
              <a:rPr sz="1100">
                <a:solidFill>
                  <a:srgbClr val="94A3B8"/>
                </a:solidFill>
              </a:rPr>
              <a:t>Cross-parameter range checks (min_experience &lt;= max_experience), pagination bounds, and consistent error envelopes ({ error: { code, message } }).</a:t>
            </a:r>
          </a:p>
        </p:txBody>
      </p:sp>
      <p:sp>
        <p:nvSpPr>
          <p:cNvPr id="8" name="Rounded Rectangle 7"/>
          <p:cNvSpPr/>
          <p:nvPr/>
        </p:nvSpPr>
        <p:spPr>
          <a:xfrm>
            <a:off x="6217920" y="1691640"/>
            <a:ext cx="5212080" cy="283464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818CF8"/>
                </a:solidFill>
              </a:defRPr>
            </a:pPr>
            <a:r>
              <a:t>3NF Relational Database Schema</a:t>
            </a:r>
          </a:p>
          <a:p>
            <a:pPr>
              <a:spcAft>
                <a:spcPts val="600"/>
              </a:spcAft>
            </a:pPr>
            <a:r>
              <a:rPr b="1" sz="1100">
                <a:solidFill>
                  <a:srgbClr val="F8FAFC"/>
                </a:solidFill>
              </a:rPr>
              <a:t>candidates Table: </a:t>
            </a:r>
            <a:r>
              <a:rPr sz="1100">
                <a:solidFill>
                  <a:srgbClr val="94A3B8"/>
                </a:solidFill>
              </a:rPr>
              <a:t>Core biographical data, years experience, source, notes, applied date, and persistent triage status.</a:t>
            </a:r>
          </a:p>
          <a:p>
            <a:pPr>
              <a:spcAft>
                <a:spcPts val="600"/>
              </a:spcAft>
            </a:pPr>
            <a:r>
              <a:rPr b="1" sz="1100">
                <a:solidFill>
                  <a:srgbClr val="F8FAFC"/>
                </a:solidFill>
              </a:rPr>
              <a:t>skills Table: </a:t>
            </a:r>
            <a:r>
              <a:rPr sz="1100">
                <a:solidFill>
                  <a:srgbClr val="94A3B8"/>
                </a:solidFill>
              </a:rPr>
              <a:t>Global dictionary of unique technical skills with NOCASE unique constraints.</a:t>
            </a:r>
          </a:p>
          <a:p>
            <a:pPr>
              <a:spcAft>
                <a:spcPts val="600"/>
              </a:spcAft>
            </a:pPr>
            <a:r>
              <a:rPr b="1" sz="1100">
                <a:solidFill>
                  <a:srgbClr val="F8FAFC"/>
                </a:solidFill>
              </a:rPr>
              <a:t>candidate_skills Table: </a:t>
            </a:r>
            <a:r>
              <a:rPr sz="1100">
                <a:solidFill>
                  <a:srgbClr val="94A3B8"/>
                </a:solidFill>
              </a:rPr>
              <a:t>Many-to-many junction table with cascade deletion and foreign keys (cleaned on re-seed).</a:t>
            </a:r>
          </a:p>
          <a:p>
            <a:pPr>
              <a:spcAft>
                <a:spcPts val="600"/>
              </a:spcAft>
            </a:pPr>
            <a:r>
              <a:rPr b="1" sz="1100">
                <a:solidFill>
                  <a:srgbClr val="F8FAFC"/>
                </a:solidFill>
              </a:rPr>
              <a:t>B-Tree Indexes: </a:t>
            </a:r>
            <a:r>
              <a:rPr sz="1100">
                <a:solidFill>
                  <a:srgbClr val="94A3B8"/>
                </a:solidFill>
              </a:rPr>
              <a:t>Targeted indexes on status, target_role, source, years_experience, and applied_date.</a:t>
            </a:r>
          </a:p>
        </p:txBody>
      </p:sp>
      <p:sp>
        <p:nvSpPr>
          <p:cNvPr id="9" name="Rounded Rectangle 8"/>
          <p:cNvSpPr/>
          <p:nvPr/>
        </p:nvSpPr>
        <p:spPr>
          <a:xfrm>
            <a:off x="731520" y="4709160"/>
            <a:ext cx="10698480" cy="146304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High-Performance REST Endpoints (Single-Query Aggregations)</a:t>
            </a:r>
          </a:p>
          <a:p>
            <a:pPr>
              <a:spcAft>
                <a:spcPts val="600"/>
              </a:spcAft>
            </a:pPr>
            <a:r>
              <a:rPr b="1" sz="1100">
                <a:solidFill>
                  <a:srgbClr val="F8FAFC"/>
                </a:solidFill>
              </a:rPr>
              <a:t>GET /api/candidates: </a:t>
            </a:r>
            <a:r>
              <a:rPr sz="1100">
                <a:solidFill>
                  <a:srgbClr val="94A3B8"/>
                </a:solidFill>
              </a:rPr>
              <a:t>Paginated search and filtering with SQL parameters and SQL-injection-safe queries.</a:t>
            </a:r>
          </a:p>
          <a:p>
            <a:pPr>
              <a:spcAft>
                <a:spcPts val="600"/>
              </a:spcAft>
            </a:pPr>
            <a:r>
              <a:rPr b="1" sz="1100">
                <a:solidFill>
                  <a:srgbClr val="F8FAFC"/>
                </a:solidFill>
              </a:rPr>
              <a:t>GET /api/stats: </a:t>
            </a:r>
            <a:r>
              <a:rPr sz="1100">
                <a:solidFill>
                  <a:srgbClr val="94A3B8"/>
                </a:solidFill>
              </a:rPr>
              <a:t>Aggregate triage counts (Total, Untriaged, Shortlisted, Rejected) via a single GROUP BY query.</a:t>
            </a:r>
          </a:p>
          <a:p>
            <a:pPr>
              <a:spcAft>
                <a:spcPts val="600"/>
              </a:spcAft>
            </a:pPr>
            <a:r>
              <a:rPr b="1" sz="1100">
                <a:solidFill>
                  <a:srgbClr val="F8FAFC"/>
                </a:solidFill>
              </a:rPr>
              <a:t>GET /api/roles &amp; /sources: </a:t>
            </a:r>
            <a:r>
              <a:rPr sz="1100">
                <a:solidFill>
                  <a:srgbClr val="94A3B8"/>
                </a:solidFill>
              </a:rPr>
              <a:t>Distinct filter discovery endpoints eliminating full candidate sampling.</a:t>
            </a:r>
          </a:p>
          <a:p>
            <a:pPr>
              <a:spcAft>
                <a:spcPts val="600"/>
              </a:spcAft>
            </a:pPr>
            <a:r>
              <a:rPr b="1" sz="1100">
                <a:solidFill>
                  <a:srgbClr val="F8FAFC"/>
                </a:solidFill>
              </a:rPr>
              <a:t>PATCH /api/candidates/:id/status &amp; POST /api/ai/candidate-fit: </a:t>
            </a:r>
            <a:r>
              <a:rPr sz="1100">
                <a:solidFill>
                  <a:srgbClr val="94A3B8"/>
                </a:solidFill>
              </a:rPr>
              <a:t>Instant triage state updates and grounded Gemini fit evaluations.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HIGH-SCALE ALGORITHMS</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04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Candidate Ranking at Scale: Bucket Sort vs. Inverted Index</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Evaluating 100,000 synthetic candidates with deterministic multi-tier tie-breaking</a:t>
            </a:r>
          </a:p>
        </p:txBody>
      </p:sp>
      <p:sp>
        <p:nvSpPr>
          <p:cNvPr id="7" name="Rounded Rectangle 6"/>
          <p:cNvSpPr/>
          <p:nvPr/>
        </p:nvSpPr>
        <p:spPr>
          <a:xfrm>
            <a:off x="731520" y="1691640"/>
            <a:ext cx="5212080" cy="292608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Algorithm Design &amp; Complexity</a:t>
            </a:r>
          </a:p>
          <a:p>
            <a:pPr>
              <a:spcAft>
                <a:spcPts val="600"/>
              </a:spcAft>
            </a:pPr>
            <a:r>
              <a:rPr b="1" sz="1100">
                <a:solidFill>
                  <a:srgbClr val="F8FAFC"/>
                </a:solidFill>
              </a:rPr>
              <a:t>Problem Mandate: </a:t>
            </a:r>
            <a:r>
              <a:rPr sz="1100">
                <a:solidFill>
                  <a:srgbClr val="94A3B8"/>
                </a:solidFill>
              </a:rPr>
              <a:t>Rank 100,000 candidates by distinct required skill overlap with deterministic tie-breaking.</a:t>
            </a:r>
          </a:p>
          <a:p>
            <a:pPr>
              <a:spcAft>
                <a:spcPts val="600"/>
              </a:spcAft>
            </a:pPr>
            <a:r>
              <a:rPr b="1" sz="1100">
                <a:solidFill>
                  <a:srgbClr val="F8FAFC"/>
                </a:solidFill>
              </a:rPr>
              <a:t>Skill Intersection: </a:t>
            </a:r>
            <a:r>
              <a:rPr sz="1100">
                <a:solidFill>
                  <a:srgbClr val="94A3B8"/>
                </a:solidFill>
              </a:rPr>
              <a:t>Distinct set matching: duplicate candidate or query skills never inflate match scores.</a:t>
            </a:r>
          </a:p>
          <a:p>
            <a:pPr>
              <a:spcAft>
                <a:spcPts val="600"/>
              </a:spcAft>
            </a:pPr>
            <a:r>
              <a:rPr b="1" sz="1100">
                <a:solidFill>
                  <a:srgbClr val="F8FAFC"/>
                </a:solidFill>
              </a:rPr>
              <a:t>Bucket Partitioning: </a:t>
            </a:r>
            <a:r>
              <a:rPr sz="1100">
                <a:solidFill>
                  <a:srgbClr val="94A3B8"/>
                </a:solidFill>
              </a:rPr>
              <a:t>Partitions candidates into R+1 score buckets in O(N * S_c) linear time.</a:t>
            </a:r>
          </a:p>
          <a:p>
            <a:pPr>
              <a:spcAft>
                <a:spcPts val="600"/>
              </a:spcAft>
            </a:pPr>
            <a:r>
              <a:rPr b="1" sz="1100">
                <a:solidFill>
                  <a:srgbClr val="F8FAFC"/>
                </a:solidFill>
              </a:rPr>
              <a:t>Deterministic Tie-Breaker: </a:t>
            </a:r>
            <a:r>
              <a:rPr sz="1100">
                <a:solidFill>
                  <a:srgbClr val="94A3B8"/>
                </a:solidFill>
              </a:rPr>
              <a:t>Score (desc) -&gt; Experience (desc) -&gt; Name (asc) -&gt; ID (asc).</a:t>
            </a:r>
          </a:p>
        </p:txBody>
      </p:sp>
      <p:sp>
        <p:nvSpPr>
          <p:cNvPr id="8" name="Rounded Rectangle 7"/>
          <p:cNvSpPr/>
          <p:nvPr/>
        </p:nvSpPr>
        <p:spPr>
          <a:xfrm>
            <a:off x="6217920" y="1691640"/>
            <a:ext cx="5212080" cy="292608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4D399"/>
                </a:solidFill>
              </a:defRPr>
            </a:pPr>
            <a:r>
              <a:t>Honest Benchmark (100,000 Candidates, Node v22)</a:t>
            </a:r>
          </a:p>
          <a:p>
            <a:pPr>
              <a:spcAft>
                <a:spcPts val="600"/>
              </a:spcAft>
            </a:pPr>
            <a:r>
              <a:rPr b="1" sz="1100">
                <a:solidFill>
                  <a:srgbClr val="F8FAFC"/>
                </a:solidFill>
              </a:rPr>
              <a:t>Baseline Full Array Sort: </a:t>
            </a:r>
            <a:r>
              <a:rPr sz="1100">
                <a:solidFill>
                  <a:srgbClr val="94A3B8"/>
                </a:solidFill>
              </a:rPr>
              <a:t>265.00 ms median (272.73 ms mean) — O(N * S_c + N log N).</a:t>
            </a:r>
          </a:p>
          <a:p>
            <a:pPr>
              <a:spcAft>
                <a:spcPts val="600"/>
              </a:spcAft>
            </a:pPr>
            <a:r>
              <a:rPr b="1" sz="1100">
                <a:solidFill>
                  <a:srgbClr val="F8FAFC"/>
                </a:solidFill>
              </a:rPr>
              <a:t>Bucket Sort Full Rank: </a:t>
            </a:r>
            <a:r>
              <a:rPr sz="1100">
                <a:solidFill>
                  <a:srgbClr val="94A3B8"/>
                </a:solidFill>
              </a:rPr>
              <a:t>253.88 ms median (279.97 ms mean) — ~1x speedup (no significant gain because all non-empty buckets must still be sorted in full).</a:t>
            </a:r>
          </a:p>
          <a:p>
            <a:pPr>
              <a:spcAft>
                <a:spcPts val="600"/>
              </a:spcAft>
            </a:pPr>
            <a:r>
              <a:rPr b="1" sz="1100">
                <a:solidFill>
                  <a:srgbClr val="F8FAFC"/>
                </a:solidFill>
              </a:rPr>
              <a:t>Bucket Sort Top-100 Early Exit: </a:t>
            </a:r>
            <a:r>
              <a:rPr sz="1100">
                <a:solidFill>
                  <a:srgbClr val="94A3B8"/>
                </a:solidFill>
              </a:rPr>
              <a:t>102.18 ms median (134.23 ms mean) — ~2x speedup (2.03x mean, 2.59x median) because it skips lower score buckets.</a:t>
            </a:r>
          </a:p>
        </p:txBody>
      </p:sp>
      <p:sp>
        <p:nvSpPr>
          <p:cNvPr id="9" name="Rounded Rectangle 8"/>
          <p:cNvSpPr/>
          <p:nvPr/>
        </p:nvSpPr>
        <p:spPr>
          <a:xfrm>
            <a:off x="731520" y="4800600"/>
            <a:ext cx="10698480" cy="137160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BBF24"/>
                </a:solidFill>
              </a:defRPr>
            </a:pPr>
            <a:r>
              <a:t>Architectural Next Step: Inverted Skill Index</a:t>
            </a:r>
          </a:p>
          <a:p>
            <a:pPr>
              <a:spcAft>
                <a:spcPts val="600"/>
              </a:spcAft>
            </a:pPr>
            <a:r>
              <a:rPr b="1" sz="1100">
                <a:solidFill>
                  <a:srgbClr val="F8FAFC"/>
                </a:solidFill>
              </a:rPr>
              <a:t>The Inverted Index Advantage: </a:t>
            </a:r>
            <a:r>
              <a:rPr sz="1100">
                <a:solidFill>
                  <a:srgbClr val="94A3B8"/>
                </a:solidFill>
              </a:rPr>
              <a:t>For repeated queries over an existing corpus, an Inverted Index (Map&lt;skill, candidateId[]&gt;) is structurally superior: candidates with zero matching skills are never touched, dropping query time to O(sum |Postings(R_j)|).</a:t>
            </a:r>
          </a:p>
          <a:p>
            <a:pPr>
              <a:spcAft>
                <a:spcPts val="600"/>
              </a:spcAft>
            </a:pPr>
            <a:r>
              <a:rPr b="1" sz="1100">
                <a:solidFill>
                  <a:srgbClr val="F8FAFC"/>
                </a:solidFill>
              </a:rPr>
              <a:t>Production Recommendation: </a:t>
            </a:r>
            <a:r>
              <a:rPr sz="1100">
                <a:solidFill>
                  <a:srgbClr val="94A3B8"/>
                </a:solidFill>
              </a:rPr>
              <a:t>Use Bucket Sort for one-off dynamic batches; use an Inverted Index in memory for interactive recruiter 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AI-ASSISTED ENGINEERING</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05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Task 2b: AI Code Review &amp; Senior Engineering Reflection</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Dissecting realistic AI code defects and establishing defensive engineering standards</a:t>
            </a:r>
          </a:p>
        </p:txBody>
      </p:sp>
      <p:sp>
        <p:nvSpPr>
          <p:cNvPr id="7" name="Rounded Rectangle 6"/>
          <p:cNvSpPr/>
          <p:nvPr/>
        </p:nvSpPr>
        <p:spPr>
          <a:xfrm>
            <a:off x="731520" y="1691640"/>
            <a:ext cx="521208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F87171"/>
                </a:solidFill>
              </a:defRPr>
            </a:pPr>
            <a:r>
              <a:t>Defect Analysis in Flawed AI Code</a:t>
            </a:r>
          </a:p>
          <a:p>
            <a:pPr>
              <a:spcAft>
                <a:spcPts val="600"/>
              </a:spcAft>
            </a:pPr>
            <a:r>
              <a:rPr b="1" sz="1100">
                <a:solidFill>
                  <a:srgbClr val="F8FAFC"/>
                </a:solidFill>
              </a:rPr>
              <a:t>Fatal Boundary Crash: </a:t>
            </a:r>
            <a:r>
              <a:rPr sz="1100">
                <a:solidFill>
                  <a:srgbClr val="94A3B8"/>
                </a:solidFill>
              </a:rPr>
              <a:t>i &lt;= candidates.length off-by-one boundary caused a fatal TypeError crash on the last iteration.</a:t>
            </a:r>
          </a:p>
          <a:p>
            <a:pPr>
              <a:spcAft>
                <a:spcPts val="600"/>
              </a:spcAft>
            </a:pPr>
            <a:r>
              <a:rPr b="1" sz="1100">
                <a:solidFill>
                  <a:srgbClr val="F8FAFC"/>
                </a:solidFill>
              </a:rPr>
              <a:t>Global Scope Leak: </a:t>
            </a:r>
            <a:r>
              <a:rPr sz="1100">
                <a:solidFill>
                  <a:srgbClr val="94A3B8"/>
                </a:solidFill>
              </a:rPr>
              <a:t>i = 0 undeclared loop counter leaked into the global namespace.</a:t>
            </a:r>
          </a:p>
          <a:p>
            <a:pPr>
              <a:spcAft>
                <a:spcPts val="600"/>
              </a:spcAft>
            </a:pPr>
            <a:r>
              <a:rPr b="1" sz="1100">
                <a:solidFill>
                  <a:srgbClr val="F8FAFC"/>
                </a:solidFill>
              </a:rPr>
              <a:t>Type Error on Score: </a:t>
            </a:r>
            <a:r>
              <a:rPr sz="1100">
                <a:solidFill>
                  <a:srgbClr val="94A3B8"/>
                </a:solidFill>
              </a:rPr>
              <a:t>score = c.skills.filter(...) assigned an array of strings instead of a numeric count.</a:t>
            </a:r>
          </a:p>
          <a:p>
            <a:pPr>
              <a:spcAft>
                <a:spcPts val="600"/>
              </a:spcAft>
            </a:pPr>
            <a:r>
              <a:rPr b="1" sz="1100">
                <a:solidFill>
                  <a:srgbClr val="F8FAFC"/>
                </a:solidFill>
              </a:rPr>
              <a:t>Comparator NaN Invalidation: </a:t>
            </a:r>
            <a:r>
              <a:rPr sz="1100">
                <a:solidFill>
                  <a:srgbClr val="94A3B8"/>
                </a:solidFill>
              </a:rPr>
              <a:t>matches.sort((a,b) =&gt; a.score - b.score) performed array subtraction, resulting in NaN and broken non-deterministic sorting.</a:t>
            </a:r>
          </a:p>
          <a:p>
            <a:pPr>
              <a:spcAft>
                <a:spcPts val="600"/>
              </a:spcAft>
            </a:pPr>
            <a:r>
              <a:rPr b="1" sz="1100">
                <a:solidFill>
                  <a:srgbClr val="F8FAFC"/>
                </a:solidFill>
              </a:rPr>
              <a:t>Missing Normalization: </a:t>
            </a:r>
            <a:r>
              <a:rPr sz="1100">
                <a:solidFill>
                  <a:srgbClr val="94A3B8"/>
                </a:solidFill>
              </a:rPr>
              <a:t>Ignored skill casing, allowed duplicate candidate skills to inflate score, and had no deterministic tie-breaker.</a:t>
            </a:r>
          </a:p>
        </p:txBody>
      </p:sp>
      <p:sp>
        <p:nvSpPr>
          <p:cNvPr id="8" name="Rounded Rectangle 7"/>
          <p:cNvSpPr/>
          <p:nvPr/>
        </p:nvSpPr>
        <p:spPr>
          <a:xfrm>
            <a:off x="6217920" y="1691640"/>
            <a:ext cx="521208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818CF8"/>
                </a:solidFill>
              </a:defRPr>
            </a:pPr>
            <a:r>
              <a:t>Corrected Module &amp; Key Takeaway</a:t>
            </a:r>
          </a:p>
          <a:p>
            <a:pPr>
              <a:spcAft>
                <a:spcPts val="600"/>
              </a:spcAft>
            </a:pPr>
            <a:r>
              <a:rPr b="1" sz="1100">
                <a:solidFill>
                  <a:srgbClr val="F8FAFC"/>
                </a:solidFill>
              </a:rPr>
              <a:t>matchCandidatesFixed.ts: </a:t>
            </a:r>
            <a:r>
              <a:rPr sz="1100">
                <a:solidFill>
                  <a:srgbClr val="94A3B8"/>
                </a:solidFill>
              </a:rPr>
              <a:t>Implemented strict TypeScript types, case-normalization, distinct set intersection, and deterministic 4-tier descending sort.</a:t>
            </a:r>
          </a:p>
          <a:p>
            <a:pPr>
              <a:spcAft>
                <a:spcPts val="600"/>
              </a:spcAft>
            </a:pPr>
            <a:r>
              <a:rPr b="1" sz="1100">
                <a:solidFill>
                  <a:srgbClr val="F8FAFC"/>
                </a:solidFill>
              </a:rPr>
              <a:t>Dual-Algorithm Parity Tests: </a:t>
            </a:r>
            <a:r>
              <a:rPr sz="1100">
                <a:solidFill>
                  <a:srgbClr val="94A3B8"/>
                </a:solidFill>
              </a:rPr>
              <a:t>Wrote automated tests validating invariant parity and deterministic output between baseline and optimized modules.</a:t>
            </a:r>
          </a:p>
          <a:p>
            <a:pPr>
              <a:spcAft>
                <a:spcPts val="600"/>
              </a:spcAft>
            </a:pPr>
            <a:r>
              <a:rPr b="1" sz="1100">
                <a:solidFill>
                  <a:srgbClr val="F8FAFC"/>
                </a:solidFill>
              </a:rPr>
              <a:t>Senior Engineering Reflection: </a:t>
            </a:r>
            <a:r>
              <a:rPr sz="1100">
                <a:solidFill>
                  <a:srgbClr val="94A3B8"/>
                </a:solidFill>
              </a:rPr>
              <a:t>"A developer who glanced at the AI output without reading line-by-line would see syntax that looked reasonable, but ship code that immediately crashed in production with an off-by-one exception, failed to compute numeric scores, and produced non-deterministic sorting due to NaN array arithmetic."</a:t>
            </a:r>
          </a:p>
          <a:p>
            <a:pPr>
              <a:spcAft>
                <a:spcPts val="600"/>
              </a:spcAft>
            </a:pPr>
            <a:r>
              <a:rPr b="1" sz="1100">
                <a:solidFill>
                  <a:srgbClr val="F8FAFC"/>
                </a:solidFill>
              </a:rPr>
              <a:t>AI-Native Takeaway: </a:t>
            </a:r>
            <a:r>
              <a:rPr sz="1100">
                <a:solidFill>
                  <a:srgbClr val="94A3B8"/>
                </a:solidFill>
              </a:rPr>
              <a:t>AI accelerates boilerplate in minutes, but human verification, strict typing, and automated testing are non-negotiable.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INTERACTIVE DEMO</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06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Live Walkthrough: Recruiter Operations Dashboard</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High-contrast dark-mode interface with instant status KPI tracking and optimistic triage mutations</a:t>
            </a:r>
          </a:p>
        </p:txBody>
      </p:sp>
      <p:sp>
        <p:nvSpPr>
          <p:cNvPr id="7" name="Rounded Rectangle 6"/>
          <p:cNvSpPr/>
          <p:nvPr/>
        </p:nvSpPr>
        <p:spPr>
          <a:xfrm>
            <a:off x="731520" y="1691640"/>
            <a:ext cx="411480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Recruiter Operational Capabilities</a:t>
            </a:r>
          </a:p>
          <a:p>
            <a:pPr>
              <a:spcAft>
                <a:spcPts val="600"/>
              </a:spcAft>
            </a:pPr>
            <a:r>
              <a:rPr b="1" sz="1100">
                <a:solidFill>
                  <a:srgbClr val="F8FAFC"/>
                </a:solidFill>
              </a:rPr>
              <a:t>Real-Time KPI Cards: </a:t>
            </a:r>
            <a:r>
              <a:rPr sz="1100">
                <a:solidFill>
                  <a:srgbClr val="94A3B8"/>
                </a:solidFill>
              </a:rPr>
              <a:t>Live aggregate counters (48 Total, Needs Review, Shortlisted, Archived) with single-click status filtering.</a:t>
            </a:r>
          </a:p>
          <a:p>
            <a:pPr>
              <a:spcAft>
                <a:spcPts val="600"/>
              </a:spcAft>
            </a:pPr>
            <a:r>
              <a:rPr b="1" sz="1100">
                <a:solidFill>
                  <a:srgbClr val="F8FAFC"/>
                </a:solidFill>
              </a:rPr>
              <a:t>Multi-Criteria Filter Bar: </a:t>
            </a:r>
            <a:r>
              <a:rPr sz="1100">
                <a:solidFill>
                  <a:srgbClr val="94A3B8"/>
                </a:solidFill>
              </a:rPr>
              <a:t>Debounced search across candidate names, notes, roles, and skills; range sliders for experience.</a:t>
            </a:r>
          </a:p>
          <a:p>
            <a:pPr>
              <a:spcAft>
                <a:spcPts val="600"/>
              </a:spcAft>
            </a:pPr>
            <a:r>
              <a:rPr b="1" sz="1100">
                <a:solidFill>
                  <a:srgbClr val="F8FAFC"/>
                </a:solidFill>
              </a:rPr>
              <a:t>One-Click Triage Actions: </a:t>
            </a:r>
            <a:r>
              <a:rPr sz="1100">
                <a:solidFill>
                  <a:srgbClr val="94A3B8"/>
                </a:solidFill>
              </a:rPr>
              <a:t>Instant Shortlist, Reject, or Reset buttons mutating SQLite via PATCH /api/candidates/:id/status.</a:t>
            </a:r>
          </a:p>
          <a:p>
            <a:pPr>
              <a:spcAft>
                <a:spcPts val="600"/>
              </a:spcAft>
            </a:pPr>
            <a:r>
              <a:rPr b="1" sz="1100">
                <a:solidFill>
                  <a:srgbClr val="F8FAFC"/>
                </a:solidFill>
              </a:rPr>
              <a:t>Optimistic Feedback: </a:t>
            </a:r>
            <a:r>
              <a:rPr sz="1100">
                <a:solidFill>
                  <a:srgbClr val="94A3B8"/>
                </a:solidFill>
              </a:rPr>
              <a:t>Immediate UI status badge update with animated toast notification and counter synchronization.</a:t>
            </a:r>
          </a:p>
          <a:p>
            <a:pPr>
              <a:spcAft>
                <a:spcPts val="600"/>
              </a:spcAft>
            </a:pPr>
            <a:r>
              <a:rPr b="1" sz="1100">
                <a:solidFill>
                  <a:srgbClr val="F8FAFC"/>
                </a:solidFill>
              </a:rPr>
              <a:t>Accessibility Conscious: </a:t>
            </a:r>
            <a:r>
              <a:rPr sz="1100">
                <a:solidFill>
                  <a:srgbClr val="94A3B8"/>
                </a:solidFill>
              </a:rPr>
              <a:t>Full keyboard navigation, semantic table roles, ARIA labels, and high-contrast styling.</a:t>
            </a:r>
          </a:p>
        </p:txBody>
      </p:sp>
      <p:pic>
        <p:nvPicPr>
          <p:cNvPr id="8" name="Picture 7" descr="01-dashboard-overview.png"/>
          <p:cNvPicPr>
            <a:picLocks noChangeAspect="1"/>
          </p:cNvPicPr>
          <p:nvPr/>
        </p:nvPicPr>
        <p:blipFill>
          <a:blip r:embed="rId2"/>
          <a:stretch>
            <a:fillRect/>
          </a:stretch>
        </p:blipFill>
        <p:spPr>
          <a:xfrm>
            <a:off x="5120640" y="1691640"/>
            <a:ext cx="6309360" cy="2988320"/>
          </a:xfrm>
          <a:prstGeom prst="rect">
            <a:avLst/>
          </a:prstGeom>
        </p:spPr>
      </p:pic>
      <p:pic>
        <p:nvPicPr>
          <p:cNvPr id="9" name="Picture 8" descr="04-triage-action-toast.png"/>
          <p:cNvPicPr>
            <a:picLocks noChangeAspect="1"/>
          </p:cNvPicPr>
          <p:nvPr/>
        </p:nvPicPr>
        <p:blipFill>
          <a:blip r:embed="rId3"/>
          <a:stretch>
            <a:fillRect/>
          </a:stretch>
        </p:blipFill>
        <p:spPr>
          <a:xfrm>
            <a:off x="5120640" y="4663440"/>
            <a:ext cx="6309360" cy="227974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GENERATIVE AI INTEGRATION</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07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Live AI Evaluation: Evidence-Grounded Gemini Candidate Fit</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Targeted gap analysis and interview probing flags powered by gemini-3.8-flash</a:t>
            </a:r>
          </a:p>
        </p:txBody>
      </p:sp>
      <p:pic>
        <p:nvPicPr>
          <p:cNvPr id="7" name="Picture 6" descr="02-candidate-drawer.png"/>
          <p:cNvPicPr>
            <a:picLocks noChangeAspect="1"/>
          </p:cNvPicPr>
          <p:nvPr/>
        </p:nvPicPr>
        <p:blipFill>
          <a:blip r:embed="rId2"/>
          <a:stretch>
            <a:fillRect/>
          </a:stretch>
        </p:blipFill>
        <p:spPr>
          <a:xfrm>
            <a:off x="731520" y="1691640"/>
            <a:ext cx="3383280" cy="4340361"/>
          </a:xfrm>
          <a:prstGeom prst="rect">
            <a:avLst/>
          </a:prstGeom>
        </p:spPr>
      </p:pic>
      <p:pic>
        <p:nvPicPr>
          <p:cNvPr id="8" name="Picture 7" descr="03-gemini-fit-evaluation.png"/>
          <p:cNvPicPr>
            <a:picLocks noChangeAspect="1"/>
          </p:cNvPicPr>
          <p:nvPr/>
        </p:nvPicPr>
        <p:blipFill>
          <a:blip r:embed="rId3"/>
          <a:stretch>
            <a:fillRect/>
          </a:stretch>
        </p:blipFill>
        <p:spPr>
          <a:xfrm>
            <a:off x="4297680" y="1691640"/>
            <a:ext cx="3383280" cy="4395198"/>
          </a:xfrm>
          <a:prstGeom prst="rect">
            <a:avLst/>
          </a:prstGeom>
        </p:spPr>
      </p:pic>
      <p:sp>
        <p:nvSpPr>
          <p:cNvPr id="9" name="Rounded Rectangle 8"/>
          <p:cNvSpPr/>
          <p:nvPr/>
        </p:nvSpPr>
        <p:spPr>
          <a:xfrm>
            <a:off x="7863840" y="1691640"/>
            <a:ext cx="356616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818CF8"/>
                </a:solidFill>
              </a:defRPr>
            </a:pPr>
            <a:r>
              <a:t>AI Defensive Architecture</a:t>
            </a:r>
          </a:p>
          <a:p>
            <a:pPr>
              <a:spcAft>
                <a:spcPts val="600"/>
              </a:spcAft>
            </a:pPr>
            <a:r>
              <a:rPr b="1" sz="1100">
                <a:solidFill>
                  <a:srgbClr val="F8FAFC"/>
                </a:solidFill>
              </a:rPr>
              <a:t>Zero-Hallucination Retrieval: </a:t>
            </a:r>
            <a:r>
              <a:rPr sz="1100">
                <a:solidFill>
                  <a:srgbClr val="94A3B8"/>
                </a:solidFill>
              </a:rPr>
              <a:t>Candidate facts, experience, and notes are fetched strictly from SQLite on the server; client cannot spoof profile data.</a:t>
            </a:r>
          </a:p>
          <a:p>
            <a:pPr>
              <a:spcAft>
                <a:spcPts val="600"/>
              </a:spcAft>
            </a:pPr>
            <a:r>
              <a:rPr b="1" sz="1100">
                <a:solidFill>
                  <a:srgbClr val="F8FAFC"/>
                </a:solidFill>
              </a:rPr>
              <a:t>Prompt Injection Defense: </a:t>
            </a:r>
            <a:r>
              <a:rPr sz="1100">
                <a:solidFill>
                  <a:srgbClr val="94A3B8"/>
                </a:solidFill>
              </a:rPr>
              <a:t>XML fencing (&lt;job_description&gt;, &lt;candidate_profile&gt;) mitigates prompt injection attacks.</a:t>
            </a:r>
          </a:p>
          <a:p>
            <a:pPr>
              <a:spcAft>
                <a:spcPts val="600"/>
              </a:spcAft>
            </a:pPr>
            <a:r>
              <a:rPr b="1" sz="1100">
                <a:solidFill>
                  <a:srgbClr val="F8FAFC"/>
                </a:solidFill>
              </a:rPr>
              <a:t>Structured Output: </a:t>
            </a:r>
            <a:r>
              <a:rPr sz="1100">
                <a:solidFill>
                  <a:srgbClr val="94A3B8"/>
                </a:solidFill>
              </a:rPr>
              <a:t>Enforces strict JSON schema: Fit Level (Strong, Moderate, Weak), Supported Skills, Missing Gaps, Experience Assessment, and Interview Probing Flags.</a:t>
            </a:r>
          </a:p>
          <a:p>
            <a:pPr>
              <a:spcAft>
                <a:spcPts val="600"/>
              </a:spcAft>
            </a:pPr>
            <a:r>
              <a:rPr b="1" sz="1100">
                <a:solidFill>
                  <a:srgbClr val="F8FAFC"/>
                </a:solidFill>
              </a:rPr>
              <a:t>Recruiter Decision Support: </a:t>
            </a:r>
            <a:r>
              <a:rPr sz="1100">
                <a:solidFill>
                  <a:srgbClr val="94A3B8"/>
                </a:solidFill>
              </a:rPr>
              <a:t>AI does NOT make automated rejection decisions; it surfaces concrete evidence gaps (e.g. 'Lacks documented frontend frameworks') for human recruiter probing.</a:t>
            </a:r>
          </a:p>
          <a:p>
            <a:pPr>
              <a:spcAft>
                <a:spcPts val="600"/>
              </a:spcAft>
            </a:pPr>
            <a:r>
              <a:rPr b="1" sz="1100">
                <a:solidFill>
                  <a:srgbClr val="F8FAFC"/>
                </a:solidFill>
              </a:rPr>
              <a:t>Provider Resilience: </a:t>
            </a:r>
            <a:r>
              <a:rPr sz="1100">
                <a:solidFill>
                  <a:srgbClr val="94A3B8"/>
                </a:solidFill>
              </a:rPr>
              <a:t>100% mocked automated tests covering 429 rate limits, 503 auth failures, 422 safety blocks, and 502 malformed outputs.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292608"/>
          </a:xfrm>
          <a:prstGeom prst="roundRect">
            <a:avLst/>
          </a:prstGeom>
          <a:solidFill>
            <a:srgbClr val="1E293B"/>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38BDF8"/>
                </a:solidFill>
              </a:defRPr>
            </a:pPr>
            <a:r>
              <a:t>SCALE &amp; FUTURE VISION</a:t>
            </a:r>
          </a:p>
        </p:txBody>
      </p:sp>
      <p:sp>
        <p:nvSpPr>
          <p:cNvPr id="4" name="TextBox 3"/>
          <p:cNvSpPr txBox="1"/>
          <p:nvPr/>
        </p:nvSpPr>
        <p:spPr>
          <a:xfrm>
            <a:off x="10058400" y="365760"/>
            <a:ext cx="1401775" cy="292608"/>
          </a:xfrm>
          <a:prstGeom prst="rect">
            <a:avLst/>
          </a:prstGeom>
          <a:noFill/>
        </p:spPr>
        <p:txBody>
          <a:bodyPr wrap="none" tIns="0" bIns="0" lIns="0" rIns="0">
            <a:spAutoFit/>
          </a:bodyPr>
          <a:lstStyle/>
          <a:p>
            <a:pPr algn="r">
              <a:defRPr sz="1000" b="1">
                <a:solidFill>
                  <a:srgbClr val="94A3B8"/>
                </a:solidFill>
              </a:defRPr>
            </a:pPr>
            <a:r>
              <a:t>SLIDE 08 / 08</a:t>
            </a:r>
          </a:p>
        </p:txBody>
      </p:sp>
      <p:sp>
        <p:nvSpPr>
          <p:cNvPr id="5" name="TextBox 4"/>
          <p:cNvSpPr txBox="1"/>
          <p:nvPr/>
        </p:nvSpPr>
        <p:spPr>
          <a:xfrm>
            <a:off x="731520" y="713232"/>
            <a:ext cx="10698480" cy="502920"/>
          </a:xfrm>
          <a:prstGeom prst="rect">
            <a:avLst/>
          </a:prstGeom>
          <a:noFill/>
        </p:spPr>
        <p:txBody>
          <a:bodyPr wrap="square" lIns="0" tIns="0" rIns="0" bIns="0">
            <a:spAutoFit/>
          </a:bodyPr>
          <a:lstStyle/>
          <a:p>
            <a:pPr>
              <a:defRPr sz="2200" b="1">
                <a:solidFill>
                  <a:srgbClr val="F8FAFC"/>
                </a:solidFill>
              </a:defRPr>
            </a:pPr>
            <a:r>
              <a:t>Scaling to 3,000 Candidates/Week &amp; Production Roadmap</a:t>
            </a:r>
          </a:p>
        </p:txBody>
      </p:sp>
      <p:sp>
        <p:nvSpPr>
          <p:cNvPr id="6" name="TextBox 5"/>
          <p:cNvSpPr txBox="1"/>
          <p:nvPr/>
        </p:nvSpPr>
        <p:spPr>
          <a:xfrm>
            <a:off x="731520" y="1243584"/>
            <a:ext cx="10698480" cy="320040"/>
          </a:xfrm>
          <a:prstGeom prst="rect">
            <a:avLst/>
          </a:prstGeom>
          <a:noFill/>
        </p:spPr>
        <p:txBody>
          <a:bodyPr wrap="square" lIns="0" tIns="0" rIns="0" bIns="0">
            <a:spAutoFit/>
          </a:bodyPr>
          <a:lstStyle/>
          <a:p>
            <a:pPr>
              <a:defRPr sz="1200">
                <a:solidFill>
                  <a:srgbClr val="94A3B8"/>
                </a:solidFill>
              </a:defRPr>
            </a:pPr>
            <a:r>
              <a:t>Practical engineering judgment under 2-engineer/2-week constraints and sprint roadmap</a:t>
            </a:r>
          </a:p>
        </p:txBody>
      </p:sp>
      <p:sp>
        <p:nvSpPr>
          <p:cNvPr id="7" name="Rounded Rectangle 6"/>
          <p:cNvSpPr/>
          <p:nvPr/>
        </p:nvSpPr>
        <p:spPr>
          <a:xfrm>
            <a:off x="731520" y="1691640"/>
            <a:ext cx="521208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38BDF8"/>
                </a:solidFill>
              </a:defRPr>
            </a:pPr>
            <a:r>
              <a:t>Scaling to 3,000/Wk (2 Devs, 2 Weeks)</a:t>
            </a:r>
          </a:p>
          <a:p>
            <a:pPr>
              <a:spcAft>
                <a:spcPts val="600"/>
              </a:spcAft>
            </a:pPr>
            <a:r>
              <a:rPr b="1" sz="1100">
                <a:solidFill>
                  <a:srgbClr val="F8FAFC"/>
                </a:solidFill>
              </a:rPr>
              <a:t>The #1 Defensible Risk: </a:t>
            </a:r>
            <a:r>
              <a:rPr sz="1100">
                <a:solidFill>
                  <a:srgbClr val="94A3B8"/>
                </a:solidFill>
              </a:rPr>
              <a:t>Skill tag vocabulary variance ('Postgres' vs 'RDBMS'). A naive top-10% keyword pre-filter creates severe false negatives, silently rejecting non-traditional candidates.</a:t>
            </a:r>
          </a:p>
          <a:p>
            <a:pPr>
              <a:spcAft>
                <a:spcPts val="600"/>
              </a:spcAft>
            </a:pPr>
            <a:r>
              <a:rPr b="1" sz="1100">
                <a:solidFill>
                  <a:srgbClr val="F8FAFC"/>
                </a:solidFill>
              </a:rPr>
              <a:t>Per-Requisition Intake: </a:t>
            </a:r>
            <a:r>
              <a:rPr sz="1100">
                <a:solidFill>
                  <a:srgbClr val="94A3B8"/>
                </a:solidFill>
              </a:rPr>
              <a:t>Candidates apply across distinct roles; ingest asynchronously via BullMQ/Redis buffer (~430 candidates/day).</a:t>
            </a:r>
          </a:p>
          <a:p>
            <a:pPr>
              <a:spcAft>
                <a:spcPts val="600"/>
              </a:spcAft>
            </a:pPr>
            <a:r>
              <a:rPr b="1" sz="1100">
                <a:solidFill>
                  <a:srgbClr val="F8FAFC"/>
                </a:solidFill>
              </a:rPr>
              <a:t>Recruiter-Selected Triage: </a:t>
            </a:r>
            <a:r>
              <a:rPr sz="1100">
                <a:solidFill>
                  <a:srgbClr val="94A3B8"/>
                </a:solidFill>
              </a:rPr>
              <a:t>Present ranked candidates per open role; allow recruiters to select candidate batches for LLM evaluation rather than an automated top-10% cutoff.</a:t>
            </a:r>
          </a:p>
          <a:p>
            <a:pPr>
              <a:spcAft>
                <a:spcPts val="600"/>
              </a:spcAft>
            </a:pPr>
            <a:r>
              <a:rPr b="1" sz="1100">
                <a:solidFill>
                  <a:srgbClr val="F8FAFC"/>
                </a:solidFill>
              </a:rPr>
              <a:t>Hashed Evaluation Caching: </a:t>
            </a:r>
            <a:r>
              <a:rPr sz="1100">
                <a:solidFill>
                  <a:srgbClr val="94A3B8"/>
                </a:solidFill>
              </a:rPr>
              <a:t>Cache fit evaluations by SHA256(candidateId + jdHash) in Redis to eliminate redundant token consumption.</a:t>
            </a:r>
          </a:p>
          <a:p>
            <a:pPr>
              <a:spcAft>
                <a:spcPts val="600"/>
              </a:spcAft>
            </a:pPr>
            <a:r>
              <a:rPr b="1" sz="1100">
                <a:solidFill>
                  <a:srgbClr val="F8FAFC"/>
                </a:solidFill>
              </a:rPr>
              <a:t>Audit Logging &amp; Compliance: </a:t>
            </a:r>
            <a:r>
              <a:rPr sz="1100">
                <a:solidFill>
                  <a:srgbClr val="94A3B8"/>
                </a:solidFill>
              </a:rPr>
              <a:t>Maintain append-only triage audit trail ensuring compliance with NYC Local Law 144 / EEOC guidelines.</a:t>
            </a:r>
          </a:p>
        </p:txBody>
      </p:sp>
      <p:sp>
        <p:nvSpPr>
          <p:cNvPr id="8" name="Rounded Rectangle 7"/>
          <p:cNvSpPr/>
          <p:nvPr/>
        </p:nvSpPr>
        <p:spPr>
          <a:xfrm>
            <a:off x="6217920" y="1691640"/>
            <a:ext cx="5212080" cy="4480560"/>
          </a:xfrm>
          <a:prstGeom prst="roundRect">
            <a:avLst/>
          </a:prstGeom>
          <a:solidFill>
            <a:srgbClr val="161F30"/>
          </a:solidFill>
          <a:ln w="12700">
            <a:solidFill>
              <a:srgbClr val="2A3B53"/>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400" b="1">
                <a:solidFill>
                  <a:srgbClr val="818CF8"/>
                </a:solidFill>
              </a:defRPr>
            </a:pPr>
            <a:r>
              <a:t>Next 2-Week Production Sprint</a:t>
            </a:r>
          </a:p>
          <a:p>
            <a:pPr>
              <a:spcAft>
                <a:spcPts val="600"/>
              </a:spcAft>
            </a:pPr>
            <a:r>
              <a:rPr b="1" sz="1100">
                <a:solidFill>
                  <a:srgbClr val="F8FAFC"/>
                </a:solidFill>
              </a:rPr>
              <a:t>Inverted Skill Index: </a:t>
            </a:r>
            <a:r>
              <a:rPr sz="1100">
                <a:solidFill>
                  <a:srgbClr val="94A3B8"/>
                </a:solidFill>
              </a:rPr>
              <a:t>Build an in-memory inverted index for sub-10ms candidate search across high-volume corpora.</a:t>
            </a:r>
          </a:p>
          <a:p>
            <a:pPr>
              <a:spcAft>
                <a:spcPts val="600"/>
              </a:spcAft>
            </a:pPr>
            <a:r>
              <a:rPr b="1" sz="1100">
                <a:solidFill>
                  <a:srgbClr val="F8FAFC"/>
                </a:solidFill>
              </a:rPr>
              <a:t>Local Vector Search: </a:t>
            </a:r>
            <a:r>
              <a:rPr sz="1100">
                <a:solidFill>
                  <a:srgbClr val="94A3B8"/>
                </a:solidFill>
              </a:rPr>
              <a:t>Integrate sqlite-vss embeddings over qualitative recruiter notes to surface soft-skill matches.</a:t>
            </a:r>
          </a:p>
          <a:p>
            <a:pPr>
              <a:spcAft>
                <a:spcPts val="600"/>
              </a:spcAft>
            </a:pPr>
            <a:r>
              <a:rPr b="1" sz="1100">
                <a:solidFill>
                  <a:srgbClr val="F8FAFC"/>
                </a:solidFill>
              </a:rPr>
              <a:t>Two-Way ATS Sync: </a:t>
            </a:r>
            <a:r>
              <a:rPr sz="1100">
                <a:solidFill>
                  <a:srgbClr val="94A3B8"/>
                </a:solidFill>
              </a:rPr>
              <a:t>Webhook integrations with Greenhouse and Lever for automated candidate imports and two-way status export.</a:t>
            </a:r>
          </a:p>
          <a:p>
            <a:pPr>
              <a:spcAft>
                <a:spcPts val="600"/>
              </a:spcAft>
            </a:pPr>
            <a:r>
              <a:rPr b="1" sz="1100">
                <a:solidFill>
                  <a:srgbClr val="F8FAFC"/>
                </a:solidFill>
              </a:rPr>
              <a:t>Persistent Evaluation Store: </a:t>
            </a:r>
            <a:r>
              <a:rPr sz="1100">
                <a:solidFill>
                  <a:srgbClr val="94A3B8"/>
                </a:solidFill>
              </a:rPr>
              <a:t>Create an evaluations table in SQLite to persist LLM fit summaries and track recruiter agreement rates over time.</a:t>
            </a:r>
          </a:p>
          <a:p>
            <a:pPr>
              <a:spcAft>
                <a:spcPts val="600"/>
              </a:spcAft>
            </a:pPr>
            <a:r>
              <a:rPr b="1" sz="1100">
                <a:solidFill>
                  <a:srgbClr val="F8FAFC"/>
                </a:solidFill>
              </a:rPr>
              <a:t>Foundation Delivered: </a:t>
            </a:r>
            <a:r>
              <a:rPr sz="1100">
                <a:solidFill>
                  <a:srgbClr val="94A3B8"/>
                </a:solidFill>
              </a:rPr>
              <a:t>75 automated tests (65 backend in ~25s, 10 frontend in ~2.8s), zero failures, production build verified.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