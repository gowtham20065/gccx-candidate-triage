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Recruiters today triage hundreds of applicants using spreadsheets and gut feel. Our goal was to build a functional candidate triage prototype combining fast in-memory ranking with evidence-grounded AI decision support.</a:t>
            </a:r>
          </a:p>
          <a:p>
            <a:r>
              <a:t>We made two foundational architectural decisions upfront: first, recruiter triage decisions must persist non-destructively across server restarts; second, the single AI feature should directly solve the recruiter's hardest problem—evaluating applicant qualifications against a specific job description with verifiable evidence and explicit gap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Recruiters today triage hundreds of applicants using spreadsheets and gut feel. Our goal was to deliver a functional candidate triage prototype: responsive UI, normalized SQLite persistence, fast algorithmic ranking, and exactly one high-value live LLM feature.</a:t>
            </a:r>
          </a:p>
          <a:p>
            <a:r>
              <a:t>We established three core assumptions: first, database re-seeding must never overwrite recruiter status decisions; second, SQLite must be modeled in 3NF with indexed foreign keys rather than storing flat JSON; and third, the AI feature should focus squarely on qualification gap analysis against specific job descriptions rather than generic search.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examine the system architecture. Rather than treating SQLite as a flat JSON store, we modeled a normalized Third Normal Form schema with a dedicated skills dictionary and foreign-key junction table. This gives us clean relational integrity, eliminates duplicate skills, and provides fast indexed lookups.</a:t>
            </a:r>
          </a:p>
          <a:p>
            <a:r>
              <a:t>Our seed script is idempotent: it updates biographical records on conflict but deliberately omits the triage status column, preserving recruiter decisions across restarts. We also added dedicated single-query endpoints for triage stats, roles, and sources, eliminating client-side polling overhead.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Task 2a, we tackled ranking candidates at scale. The naive baseline sorts all 100,000 candidates with an O(N log N) comparator. Our Bucket Sort partitions candidates by distinct skill matches in linear time.</a:t>
            </a:r>
          </a:p>
          <a:p>
            <a:r>
              <a:t>Here are the honest benchmark numbers: if you sort all 100,000 candidates, Bucket Sort gives about 1x—virtually no speedup over baseline sorting—because every non-empty bucket still has to be sorted with the tie-breaker. But for Top-K queries where a recruiter only needs the top 100 matches, early exit skips sorting lower buckets entirely, giving a real ~2x speedup (2.59x median).</a:t>
            </a:r>
          </a:p>
          <a:p>
            <a:r>
              <a:t>If we were building this for repeated production queries, we would implement an Inverted Index, which skips candidates with zero matches without even an O(N) scan.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2b was a realistic assessment of reviewing AI code. The snippet looked plausible at first glance, but contained two fatal bugs and several design smells: an undeclared loop variable, an off-by-one loop boundary that crashes with a TypeError on the last candidate, an array assigned to score, and array subtraction in the comparator that evaluates to NaN.</a:t>
            </a:r>
          </a:p>
          <a:p>
            <a:r>
              <a:t>Our takeaway is fundamental to AI-native engineering: AI is exceptional at accelerating boilerplate, but blind acceptance without rigorous line-by-line verification, typing, and automated testing introduces silent, catastrophic failures.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live recruiter operations dashboard in action. At the top, we see real-time status KPI cards displaying 48 total candidates. As recruiters apply filters or search for specific skills, the candidate table updates instantly with debounced queries.</a:t>
            </a:r>
          </a:p>
          <a:p>
            <a:r>
              <a:t>When a recruiter clicks 'Shortlist' or 'Reject', the state persists immediately to SQLite via PATCH /api/candidates/:id/status. As seen in the bottom screenshot, a green toast confirms 'Candidate Kavya Kaur successfully updated to shortlisted', and the Shortlisted KPI counter increments to 1 without requiring a full page refresh.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single implemented AI feature in the live application. When the recruiter opens a candidate drawer, they select a job description preset—like Frontend Engineer—and trigger 'Evaluate Fit with Gemini'.</a:t>
            </a:r>
          </a:p>
          <a:p>
            <a:r>
              <a:t>The backend retrieves verified profile facts directly from SQLite, wraps user inputs in XML fence tags to mitigate prompt injection, and calls gemini-3.8-flash with a structured JSON schema.</a:t>
            </a:r>
          </a:p>
          <a:p>
            <a:r>
              <a:t>As shown on screen for Kavya Kaur, Gemini correctly classifies the fit as WEAK. Notice why: although she has 1 year at a startup, her documented skills are backend technologies like Java, Python, and Redis, lacking verified React or TypeScript. Rather than a black-box score, it provides specific interview probing questions for the recruiter.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Task 4, leadership asked how to scale this to 3,000 candidates a week with 2 engineers in 2 weeks. Our judgment starts by identifying the fatal flaw of a naive approach: if you use a raw keyword tag pre-filter to drop 90% of applicants, you will silently reject qualified candidates because resumes have varied terminology like 'Postgres' versus 'RDBMS'.</a:t>
            </a:r>
          </a:p>
          <a:p>
            <a:r>
              <a:t>So instead of an automated global top-10% cutoff, we build an asynchronous ingestion queue per requisition, and let recruiters manually select batches of candidates to evaluate with Gemini. Combined with hashed caching in Redis and bulk audit logs, this gives recruiters speed without biased auto-rejections.</a:t>
            </a:r>
          </a:p>
          <a:p>
            <a:r>
              <a:t>To conclude, we delivered a complete TypeScript monorepo, 75 passing tests, honest benchmark data, an accessible React dashboard, and a grounded Gemini integration—achieved with disciplined scope and defensible code.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005840"/>
            <a:ext cx="4389120" cy="347472"/>
          </a:xfrm>
          <a:prstGeom prst="roundRect">
            <a:avLst/>
          </a:prstGeom>
          <a:solidFill>
            <a:srgbClr val="1E293B"/>
          </a:solidFill>
          <a:ln>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GCCX GLOBAL AI FULL-STACK ENGINEER INTERN — ROUND 1</a:t>
            </a:r>
          </a:p>
        </p:txBody>
      </p:sp>
      <p:sp>
        <p:nvSpPr>
          <p:cNvPr id="4" name="TextBox 3"/>
          <p:cNvSpPr txBox="1"/>
          <p:nvPr/>
        </p:nvSpPr>
        <p:spPr>
          <a:xfrm>
            <a:off x="731520" y="1536192"/>
            <a:ext cx="10698480" cy="1005840"/>
          </a:xfrm>
          <a:prstGeom prst="rect">
            <a:avLst/>
          </a:prstGeom>
          <a:noFill/>
        </p:spPr>
        <p:txBody>
          <a:bodyPr wrap="none">
            <a:spAutoFit/>
          </a:bodyPr>
          <a:lstStyle/>
          <a:p>
            <a:pPr>
              <a:defRPr sz="3600" b="1">
                <a:solidFill>
                  <a:srgbClr val="F8FAFC"/>
                </a:solidFill>
                <a:latin typeface="Segoe UI"/>
              </a:defRPr>
            </a:pPr>
            <a:r>
              <a:t>Candidate Triage Operations Platform</a:t>
            </a:r>
          </a:p>
        </p:txBody>
      </p:sp>
      <p:sp>
        <p:nvSpPr>
          <p:cNvPr id="5" name="TextBox 4"/>
          <p:cNvSpPr txBox="1"/>
          <p:nvPr/>
        </p:nvSpPr>
        <p:spPr>
          <a:xfrm>
            <a:off x="731520" y="2578608"/>
            <a:ext cx="10698480" cy="502920"/>
          </a:xfrm>
          <a:prstGeom prst="rect">
            <a:avLst/>
          </a:prstGeom>
          <a:noFill/>
        </p:spPr>
        <p:txBody>
          <a:bodyPr wrap="none">
            <a:spAutoFit/>
          </a:bodyPr>
          <a:lstStyle/>
          <a:p>
            <a:pPr>
              <a:defRPr sz="1500">
                <a:solidFill>
                  <a:srgbClr val="94A3B8"/>
                </a:solidFill>
                <a:latin typeface="Segoe UI"/>
              </a:defRPr>
            </a:pPr>
            <a:r>
              <a:t>Fast Algorithmic Screening, 3NF SQLite Persistence &amp; Grounded Gemini Decision Support</a:t>
            </a:r>
          </a:p>
        </p:txBody>
      </p:sp>
      <p:sp>
        <p:nvSpPr>
          <p:cNvPr id="6" name="Rounded Rectangle 5"/>
          <p:cNvSpPr/>
          <p:nvPr/>
        </p:nvSpPr>
        <p:spPr>
          <a:xfrm>
            <a:off x="731520" y="3520440"/>
            <a:ext cx="2514600" cy="219456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38BDF8"/>
                </a:solidFill>
                <a:latin typeface="Segoe UI"/>
              </a:defRPr>
            </a:pPr>
            <a:r>
              <a:t>Fast Candidate Ranking</a:t>
            </a:r>
          </a:p>
          <a:p>
            <a:pPr>
              <a:defRPr sz="1100">
                <a:solidFill>
                  <a:srgbClr val="94A3B8"/>
                </a:solidFill>
                <a:latin typeface="Segoe UI"/>
              </a:defRPr>
            </a:pPr>
            <a:r>
              <a:t>100k synthetic dataset; 102 ms Top-100 early exit (~2x speedup / 2.59x median)</a:t>
            </a:r>
          </a:p>
        </p:txBody>
      </p:sp>
      <p:sp>
        <p:nvSpPr>
          <p:cNvPr id="7" name="Rounded Rectangle 6"/>
          <p:cNvSpPr/>
          <p:nvPr/>
        </p:nvSpPr>
        <p:spPr>
          <a:xfrm>
            <a:off x="3465576" y="3520440"/>
            <a:ext cx="2514600" cy="219456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818CF8"/>
                </a:solidFill>
                <a:latin typeface="Segoe UI"/>
              </a:defRPr>
            </a:pPr>
            <a:r>
              <a:t>3NF Normalized Storage</a:t>
            </a:r>
          </a:p>
          <a:p>
            <a:pPr>
              <a:defRPr sz="1100">
                <a:solidFill>
                  <a:srgbClr val="94A3B8"/>
                </a:solidFill>
                <a:latin typeface="Segoe UI"/>
              </a:defRPr>
            </a:pPr>
            <a:r>
              <a:t>SQLite WAL mode, foreign keys, cascade delete, idempotent re-seeding</a:t>
            </a:r>
          </a:p>
        </p:txBody>
      </p:sp>
      <p:sp>
        <p:nvSpPr>
          <p:cNvPr id="8" name="Rounded Rectangle 7"/>
          <p:cNvSpPr/>
          <p:nvPr/>
        </p:nvSpPr>
        <p:spPr>
          <a:xfrm>
            <a:off x="6199632" y="3520440"/>
            <a:ext cx="2514600" cy="219456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34D399"/>
                </a:solidFill>
                <a:latin typeface="Segoe UI"/>
              </a:defRPr>
            </a:pPr>
            <a:r>
              <a:t>Live Grounded Gemini AI</a:t>
            </a:r>
          </a:p>
          <a:p>
            <a:pPr>
              <a:defRPr sz="1100">
                <a:solidFill>
                  <a:srgbClr val="94A3B8"/>
                </a:solidFill>
                <a:latin typeface="Segoe UI"/>
              </a:defRPr>
            </a:pPr>
            <a:r>
              <a:t>gemini-3.8-flash structured fit report, XML fence tags, interview flags</a:t>
            </a:r>
          </a:p>
        </p:txBody>
      </p:sp>
      <p:sp>
        <p:nvSpPr>
          <p:cNvPr id="9" name="Rounded Rectangle 8"/>
          <p:cNvSpPr/>
          <p:nvPr/>
        </p:nvSpPr>
        <p:spPr>
          <a:xfrm>
            <a:off x="8933688" y="3520440"/>
            <a:ext cx="2514600" cy="219456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FBBF24"/>
                </a:solidFill>
                <a:latin typeface="Segoe UI"/>
              </a:defRPr>
            </a:pPr>
            <a:r>
              <a:t>Production Test Suite</a:t>
            </a:r>
          </a:p>
          <a:p>
            <a:pPr>
              <a:defRPr sz="1100">
                <a:solidFill>
                  <a:srgbClr val="94A3B8"/>
                </a:solidFill>
                <a:latin typeface="Segoe UI"/>
              </a:defRPr>
            </a:pPr>
            <a:r>
              <a:t>75 passing automated tests (65 backend in ~25s, 10 frontend in ~2.8s)</a:t>
            </a:r>
          </a:p>
        </p:txBody>
      </p:sp>
      <p:sp>
        <p:nvSpPr>
          <p:cNvPr id="10" name="TextBox 9"/>
          <p:cNvSpPr txBox="1"/>
          <p:nvPr/>
        </p:nvSpPr>
        <p:spPr>
          <a:xfrm>
            <a:off x="731520" y="5989320"/>
            <a:ext cx="10698480" cy="320040"/>
          </a:xfrm>
          <a:prstGeom prst="rect">
            <a:avLst/>
          </a:prstGeom>
          <a:noFill/>
        </p:spPr>
        <p:txBody>
          <a:bodyPr wrap="none">
            <a:spAutoFit/>
          </a:bodyPr>
          <a:lstStyle/>
          <a:p>
            <a:pPr>
              <a:defRPr sz="1000">
                <a:solidFill>
                  <a:srgbClr val="94A3B8"/>
                </a:solidFill>
                <a:latin typeface="Segoe UI"/>
              </a:defRPr>
            </a:pPr>
            <a:r>
              <a:t>Format: 8-Slide Executive Deck (10-Minute Technical Discussion) | TypeScript Monorepo (Node.js 22 + React 18 + SQLite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2926080" cy="292608"/>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950" b="1">
                <a:solidFill>
                  <a:srgbClr val="38BDF8"/>
                </a:solidFill>
                <a:latin typeface="Segoe UI"/>
              </a:defRPr>
            </a:pPr>
            <a:r>
              <a:t>CONTEXT &amp; REQUIREMENTS</a:t>
            </a:r>
          </a:p>
        </p:txBody>
      </p:sp>
      <p:sp>
        <p:nvSpPr>
          <p:cNvPr id="4" name="TextBox 3"/>
          <p:cNvSpPr txBox="1"/>
          <p:nvPr/>
        </p:nvSpPr>
        <p:spPr>
          <a:xfrm>
            <a:off x="9601200" y="384048"/>
            <a:ext cx="1858975" cy="292608"/>
          </a:xfrm>
          <a:prstGeom prst="rect">
            <a:avLst/>
          </a:prstGeom>
          <a:noFill/>
        </p:spPr>
        <p:txBody>
          <a:bodyPr wrap="none" tIns="0" bIns="0" lIns="0" rIns="0">
            <a:spAutoFit/>
          </a:bodyPr>
          <a:lstStyle/>
          <a:p>
            <a:pPr algn="r">
              <a:defRPr sz="1000" b="1">
                <a:solidFill>
                  <a:srgbClr val="94A3B8"/>
                </a:solidFill>
                <a:latin typeface="Segoe UI"/>
              </a:defRPr>
            </a:pPr>
            <a:r>
              <a:t>SLIDE 02 / 08</a:t>
            </a:r>
          </a:p>
        </p:txBody>
      </p:sp>
      <p:sp>
        <p:nvSpPr>
          <p:cNvPr id="5" name="TextBox 4"/>
          <p:cNvSpPr txBox="1"/>
          <p:nvPr/>
        </p:nvSpPr>
        <p:spPr>
          <a:xfrm>
            <a:off x="731520" y="731520"/>
            <a:ext cx="10728655" cy="457200"/>
          </a:xfrm>
          <a:prstGeom prst="rect">
            <a:avLst/>
          </a:prstGeom>
          <a:noFill/>
        </p:spPr>
        <p:txBody>
          <a:bodyPr wrap="square" lIns="0" tIns="0" rIns="0" bIns="0">
            <a:spAutoFit/>
          </a:bodyPr>
          <a:lstStyle/>
          <a:p>
            <a:pPr>
              <a:defRPr sz="2100" b="1">
                <a:solidFill>
                  <a:srgbClr val="F8FAFC"/>
                </a:solidFill>
                <a:latin typeface="Segoe UI"/>
              </a:defRPr>
            </a:pPr>
            <a:r>
              <a:t>The Problem, Scope &amp; Core Architectural Assumptions</a:t>
            </a:r>
          </a:p>
        </p:txBody>
      </p:sp>
      <p:sp>
        <p:nvSpPr>
          <p:cNvPr id="6" name="TextBox 5"/>
          <p:cNvSpPr txBox="1"/>
          <p:nvPr/>
        </p:nvSpPr>
        <p:spPr>
          <a:xfrm>
            <a:off x="731520" y="1207008"/>
            <a:ext cx="10728655" cy="320040"/>
          </a:xfrm>
          <a:prstGeom prst="rect">
            <a:avLst/>
          </a:prstGeom>
          <a:noFill/>
        </p:spPr>
        <p:txBody>
          <a:bodyPr wrap="square" lIns="0" tIns="0" rIns="0" bIns="0">
            <a:spAutoFit/>
          </a:bodyPr>
          <a:lstStyle/>
          <a:p>
            <a:pPr>
              <a:defRPr sz="1150">
                <a:solidFill>
                  <a:srgbClr val="94A3B8"/>
                </a:solidFill>
                <a:latin typeface="Segoe UI"/>
              </a:defRPr>
            </a:pPr>
            <a:r>
              <a:t>Transitioning recruiters from static spreadsheets to a reliable, persistent triage operations platform</a:t>
            </a:r>
          </a:p>
        </p:txBody>
      </p:sp>
      <p:sp>
        <p:nvSpPr>
          <p:cNvPr id="7" name="Rounded Rectangle 6"/>
          <p:cNvSpPr/>
          <p:nvPr/>
        </p:nvSpPr>
        <p:spPr>
          <a:xfrm>
            <a:off x="731520" y="1645920"/>
            <a:ext cx="5212080" cy="475488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38BDF8"/>
                </a:solidFill>
                <a:latin typeface="Segoe UI"/>
              </a:defRPr>
            </a:pPr>
            <a:r>
              <a:t>The Core Problem &amp; Mandate</a:t>
            </a:r>
          </a:p>
          <a:p>
            <a:pPr>
              <a:spcAft>
                <a:spcPts val="550"/>
              </a:spcAft>
            </a:pPr>
            <a:r>
              <a:rPr b="1" sz="1050">
                <a:solidFill>
                  <a:srgbClr val="F8FAFC"/>
                </a:solidFill>
                <a:latin typeface="Segoe UI"/>
              </a:rPr>
              <a:t>The Problem: </a:t>
            </a:r>
            <a:r>
              <a:rPr sz="1050">
                <a:solidFill>
                  <a:srgbClr val="94A3B8"/>
                </a:solidFill>
                <a:latin typeface="Segoe UI"/>
              </a:rPr>
              <a:t>Recruiters triage hundreds of candidates across static spreadsheets with subjective gut-feel, slow screening cycles, and no persistent decision tracking.</a:t>
            </a:r>
          </a:p>
          <a:p>
            <a:pPr>
              <a:spcAft>
                <a:spcPts val="550"/>
              </a:spcAft>
            </a:pPr>
            <a:r>
              <a:rPr b="1" sz="1050">
                <a:solidFill>
                  <a:srgbClr val="F8FAFC"/>
                </a:solidFill>
                <a:latin typeface="Segoe UI"/>
              </a:rPr>
              <a:t>Full-Stack Dashboard: </a:t>
            </a:r>
            <a:r>
              <a:rPr sz="1050">
                <a:solidFill>
                  <a:srgbClr val="94A3B8"/>
                </a:solidFill>
                <a:latin typeface="Segoe UI"/>
              </a:rPr>
              <a:t>Provide interactive multi-criteria filtering, debounced search, and immediate triage status mutations (Untriaged -&gt; Shortlisted / Rejected).</a:t>
            </a:r>
          </a:p>
          <a:p>
            <a:pPr>
              <a:spcAft>
                <a:spcPts val="550"/>
              </a:spcAft>
            </a:pPr>
            <a:r>
              <a:rPr b="1" sz="1050">
                <a:solidFill>
                  <a:srgbClr val="F8FAFC"/>
                </a:solidFill>
                <a:latin typeface="Segoe UI"/>
              </a:rPr>
              <a:t>Normalized Persistence: </a:t>
            </a:r>
            <a:r>
              <a:rPr sz="1050">
                <a:solidFill>
                  <a:srgbClr val="94A3B8"/>
                </a:solidFill>
                <a:latin typeface="Segoe UI"/>
              </a:rPr>
              <a:t>Implement a relational SQLite backend that persists recruiter actions non-destructively across server restarts.</a:t>
            </a:r>
          </a:p>
          <a:p>
            <a:pPr>
              <a:spcAft>
                <a:spcPts val="550"/>
              </a:spcAft>
            </a:pPr>
            <a:r>
              <a:rPr b="1" sz="1050">
                <a:solidFill>
                  <a:srgbClr val="F8FAFC"/>
                </a:solidFill>
                <a:latin typeface="Segoe UI"/>
              </a:rPr>
              <a:t>Targeted AI Feature: </a:t>
            </a:r>
            <a:r>
              <a:rPr sz="1050">
                <a:solidFill>
                  <a:srgbClr val="94A3B8"/>
                </a:solidFill>
                <a:latin typeface="Segoe UI"/>
              </a:rPr>
              <a:t>Integrate exactly ONE high-value LLM capability rather than scattered gimmicks.</a:t>
            </a:r>
          </a:p>
          <a:p>
            <a:pPr>
              <a:spcAft>
                <a:spcPts val="550"/>
              </a:spcAft>
            </a:pPr>
            <a:r>
              <a:rPr b="1" sz="1050">
                <a:solidFill>
                  <a:srgbClr val="F8FAFC"/>
                </a:solidFill>
                <a:latin typeface="Segoe UI"/>
              </a:rPr>
              <a:t>Scalable Ranking: </a:t>
            </a:r>
            <a:r>
              <a:rPr sz="1050">
                <a:solidFill>
                  <a:srgbClr val="94A3B8"/>
                </a:solidFill>
                <a:latin typeface="Segoe UI"/>
              </a:rPr>
              <a:t>Implement and evaluate deterministic candidate ranking across a 100,000 synthetic candidate benchmark.</a:t>
            </a:r>
          </a:p>
        </p:txBody>
      </p:sp>
      <p:sp>
        <p:nvSpPr>
          <p:cNvPr id="8" name="Rounded Rectangle 7"/>
          <p:cNvSpPr/>
          <p:nvPr/>
        </p:nvSpPr>
        <p:spPr>
          <a:xfrm>
            <a:off x="6217920" y="1645920"/>
            <a:ext cx="5212080" cy="475488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818CF8"/>
                </a:solidFill>
                <a:latin typeface="Segoe UI"/>
              </a:defRPr>
            </a:pPr>
            <a:r>
              <a:t>Key Architectural Assumptions</a:t>
            </a:r>
          </a:p>
          <a:p>
            <a:pPr>
              <a:spcAft>
                <a:spcPts val="550"/>
              </a:spcAft>
            </a:pPr>
            <a:r>
              <a:rPr b="1" sz="1050">
                <a:solidFill>
                  <a:srgbClr val="F8FAFC"/>
                </a:solidFill>
                <a:latin typeface="Segoe UI"/>
              </a:rPr>
              <a:t>Non-Destructive Seeding: </a:t>
            </a:r>
            <a:r>
              <a:rPr sz="1050">
                <a:solidFill>
                  <a:srgbClr val="94A3B8"/>
                </a:solidFill>
                <a:latin typeface="Segoe UI"/>
              </a:rPr>
              <a:t>Re-seeding SQLite from JSON must update biographical data on conflict but deliberately omit the status column, preserving recruiter decisions across restarts.</a:t>
            </a:r>
          </a:p>
          <a:p>
            <a:pPr>
              <a:spcAft>
                <a:spcPts val="550"/>
              </a:spcAft>
            </a:pPr>
            <a:r>
              <a:rPr b="1" sz="1050">
                <a:solidFill>
                  <a:srgbClr val="F8FAFC"/>
                </a:solidFill>
                <a:latin typeface="Segoe UI"/>
              </a:rPr>
              <a:t>3NF Relational Modeling: </a:t>
            </a:r>
            <a:r>
              <a:rPr sz="1050">
                <a:solidFill>
                  <a:srgbClr val="94A3B8"/>
                </a:solidFill>
                <a:latin typeface="Segoe UI"/>
              </a:rPr>
              <a:t>Normalize candidate skills into a dictionary and many-to-many junction table to guarantee relational integrity, eliminate duplicate tags, and support fast indexed queries.</a:t>
            </a:r>
          </a:p>
          <a:p>
            <a:pPr>
              <a:spcAft>
                <a:spcPts val="550"/>
              </a:spcAft>
            </a:pPr>
            <a:r>
              <a:rPr b="1" sz="1050">
                <a:solidFill>
                  <a:srgbClr val="F8FAFC"/>
                </a:solidFill>
                <a:latin typeface="Segoe UI"/>
              </a:rPr>
              <a:t>High-Leverage AI Value: </a:t>
            </a:r>
            <a:r>
              <a:rPr sz="1050">
                <a:solidFill>
                  <a:srgbClr val="94A3B8"/>
                </a:solidFill>
                <a:latin typeface="Segoe UI"/>
              </a:rPr>
              <a:t>Evidence-grounded candidate-fit evaluation against recruiter job descriptions delivers 10x higher triage value than generic semantic search over 48 mock candidates.</a:t>
            </a:r>
          </a:p>
          <a:p>
            <a:pPr>
              <a:spcAft>
                <a:spcPts val="550"/>
              </a:spcAft>
            </a:pPr>
            <a:r>
              <a:rPr b="1" sz="1050">
                <a:solidFill>
                  <a:srgbClr val="F8FAFC"/>
                </a:solidFill>
                <a:latin typeface="Segoe UI"/>
              </a:rPr>
              <a:t>Zero External Test Calls: </a:t>
            </a:r>
            <a:r>
              <a:rPr sz="1050">
                <a:solidFill>
                  <a:srgbClr val="94A3B8"/>
                </a:solidFill>
                <a:latin typeface="Segoe UI"/>
              </a:rPr>
              <a:t>Automated test suites must run 100% deterministically with mocked provider responses to avoid token costs and internet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2926080" cy="292608"/>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950" b="1">
                <a:solidFill>
                  <a:srgbClr val="38BDF8"/>
                </a:solidFill>
                <a:latin typeface="Segoe UI"/>
              </a:defRPr>
            </a:pPr>
            <a:r>
              <a:t>SYSTEM ARCHITECTURE</a:t>
            </a:r>
          </a:p>
        </p:txBody>
      </p:sp>
      <p:sp>
        <p:nvSpPr>
          <p:cNvPr id="4" name="TextBox 3"/>
          <p:cNvSpPr txBox="1"/>
          <p:nvPr/>
        </p:nvSpPr>
        <p:spPr>
          <a:xfrm>
            <a:off x="9601200" y="384048"/>
            <a:ext cx="1858975" cy="292608"/>
          </a:xfrm>
          <a:prstGeom prst="rect">
            <a:avLst/>
          </a:prstGeom>
          <a:noFill/>
        </p:spPr>
        <p:txBody>
          <a:bodyPr wrap="none" tIns="0" bIns="0" lIns="0" rIns="0">
            <a:spAutoFit/>
          </a:bodyPr>
          <a:lstStyle/>
          <a:p>
            <a:pPr algn="r">
              <a:defRPr sz="1000" b="1">
                <a:solidFill>
                  <a:srgbClr val="94A3B8"/>
                </a:solidFill>
                <a:latin typeface="Segoe UI"/>
              </a:defRPr>
            </a:pPr>
            <a:r>
              <a:t>SLIDE 03 / 08</a:t>
            </a:r>
          </a:p>
        </p:txBody>
      </p:sp>
      <p:sp>
        <p:nvSpPr>
          <p:cNvPr id="5" name="TextBox 4"/>
          <p:cNvSpPr txBox="1"/>
          <p:nvPr/>
        </p:nvSpPr>
        <p:spPr>
          <a:xfrm>
            <a:off x="731520" y="731520"/>
            <a:ext cx="10728655" cy="457200"/>
          </a:xfrm>
          <a:prstGeom prst="rect">
            <a:avLst/>
          </a:prstGeom>
          <a:noFill/>
        </p:spPr>
        <p:txBody>
          <a:bodyPr wrap="square" lIns="0" tIns="0" rIns="0" bIns="0">
            <a:spAutoFit/>
          </a:bodyPr>
          <a:lstStyle/>
          <a:p>
            <a:pPr>
              <a:defRPr sz="2100" b="1">
                <a:solidFill>
                  <a:srgbClr val="F8FAFC"/>
                </a:solidFill>
                <a:latin typeface="Segoe UI"/>
              </a:defRPr>
            </a:pPr>
            <a:r>
              <a:t>Full-Stack Architecture &amp; Normalized Data Layer</a:t>
            </a:r>
          </a:p>
        </p:txBody>
      </p:sp>
      <p:sp>
        <p:nvSpPr>
          <p:cNvPr id="6" name="TextBox 5"/>
          <p:cNvSpPr txBox="1"/>
          <p:nvPr/>
        </p:nvSpPr>
        <p:spPr>
          <a:xfrm>
            <a:off x="731520" y="1207008"/>
            <a:ext cx="10728655" cy="320040"/>
          </a:xfrm>
          <a:prstGeom prst="rect">
            <a:avLst/>
          </a:prstGeom>
          <a:noFill/>
        </p:spPr>
        <p:txBody>
          <a:bodyPr wrap="square" lIns="0" tIns="0" rIns="0" bIns="0">
            <a:spAutoFit/>
          </a:bodyPr>
          <a:lstStyle/>
          <a:p>
            <a:pPr>
              <a:defRPr sz="1150">
                <a:solidFill>
                  <a:srgbClr val="94A3B8"/>
                </a:solidFill>
                <a:latin typeface="Segoe UI"/>
              </a:defRPr>
            </a:pPr>
            <a:r>
              <a:t>Layered TypeScript monorepo with 3NF relational schema and strict validation</a:t>
            </a:r>
          </a:p>
        </p:txBody>
      </p:sp>
      <p:sp>
        <p:nvSpPr>
          <p:cNvPr id="7" name="Rounded Rectangle 6"/>
          <p:cNvSpPr/>
          <p:nvPr/>
        </p:nvSpPr>
        <p:spPr>
          <a:xfrm>
            <a:off x="731520" y="1645920"/>
            <a:ext cx="5212080" cy="297180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38BDF8"/>
                </a:solidFill>
                <a:latin typeface="Segoe UI"/>
              </a:defRPr>
            </a:pPr>
            <a:r>
              <a:t>Layered TypeScript Monorepo</a:t>
            </a:r>
          </a:p>
          <a:p>
            <a:pPr>
              <a:spcAft>
                <a:spcPts val="550"/>
              </a:spcAft>
            </a:pPr>
            <a:r>
              <a:rPr b="1" sz="1050">
                <a:solidFill>
                  <a:srgbClr val="F8FAFC"/>
                </a:solidFill>
                <a:latin typeface="Segoe UI"/>
              </a:rPr>
              <a:t>Frontend Workspace: </a:t>
            </a:r>
            <a:r>
              <a:rPr sz="1050">
                <a:solidFill>
                  <a:srgbClr val="94A3B8"/>
                </a:solidFill>
                <a:latin typeface="Segoe UI"/>
              </a:rPr>
              <a:t>React 18 + Vite with accessibility-conscious styling, debounced filtering, KPI metrics, and slide-out candidate details drawer.</a:t>
            </a:r>
          </a:p>
          <a:p>
            <a:pPr>
              <a:spcAft>
                <a:spcPts val="550"/>
              </a:spcAft>
            </a:pPr>
            <a:r>
              <a:rPr b="1" sz="1050">
                <a:solidFill>
                  <a:srgbClr val="F8FAFC"/>
                </a:solidFill>
                <a:latin typeface="Segoe UI"/>
              </a:rPr>
              <a:t>Backend Workspace: </a:t>
            </a:r>
            <a:r>
              <a:rPr sz="1050">
                <a:solidFill>
                  <a:srgbClr val="94A3B8"/>
                </a:solidFill>
                <a:latin typeface="Segoe UI"/>
              </a:rPr>
              <a:t>Express 4 + Node.js 22 with dependency-injected database and Gemini AI service layers.</a:t>
            </a:r>
          </a:p>
          <a:p>
            <a:pPr>
              <a:spcAft>
                <a:spcPts val="550"/>
              </a:spcAft>
            </a:pPr>
            <a:r>
              <a:rPr b="1" sz="1050">
                <a:solidFill>
                  <a:srgbClr val="F8FAFC"/>
                </a:solidFill>
                <a:latin typeface="Segoe UI"/>
              </a:rPr>
              <a:t>Defensive Validation: </a:t>
            </a:r>
            <a:r>
              <a:rPr sz="1050">
                <a:solidFill>
                  <a:srgbClr val="94A3B8"/>
                </a:solidFill>
                <a:latin typeface="Segoe UI"/>
              </a:rPr>
              <a:t>Cross-parameter range checks (min_experience &lt;= max_experience), pagination bounds, and consistent error envelopes ({ error: { code, message } }).</a:t>
            </a:r>
          </a:p>
        </p:txBody>
      </p:sp>
      <p:sp>
        <p:nvSpPr>
          <p:cNvPr id="8" name="Rounded Rectangle 7"/>
          <p:cNvSpPr/>
          <p:nvPr/>
        </p:nvSpPr>
        <p:spPr>
          <a:xfrm>
            <a:off x="6217920" y="1645920"/>
            <a:ext cx="5212080" cy="297180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818CF8"/>
                </a:solidFill>
                <a:latin typeface="Segoe UI"/>
              </a:defRPr>
            </a:pPr>
            <a:r>
              <a:t>3NF Relational Database Schema</a:t>
            </a:r>
          </a:p>
          <a:p>
            <a:pPr>
              <a:spcAft>
                <a:spcPts val="550"/>
              </a:spcAft>
            </a:pPr>
            <a:r>
              <a:rPr b="1" sz="1050">
                <a:solidFill>
                  <a:srgbClr val="F8FAFC"/>
                </a:solidFill>
                <a:latin typeface="Segoe UI"/>
              </a:rPr>
              <a:t>candidates Table: </a:t>
            </a:r>
            <a:r>
              <a:rPr sz="1050">
                <a:solidFill>
                  <a:srgbClr val="94A3B8"/>
                </a:solidFill>
                <a:latin typeface="Segoe UI"/>
              </a:rPr>
              <a:t>Core biographical data, years experience, source, notes, applied date, and persistent triage status.</a:t>
            </a:r>
          </a:p>
          <a:p>
            <a:pPr>
              <a:spcAft>
                <a:spcPts val="550"/>
              </a:spcAft>
            </a:pPr>
            <a:r>
              <a:rPr b="1" sz="1050">
                <a:solidFill>
                  <a:srgbClr val="F8FAFC"/>
                </a:solidFill>
                <a:latin typeface="Segoe UI"/>
              </a:rPr>
              <a:t>skills Table: </a:t>
            </a:r>
            <a:r>
              <a:rPr sz="1050">
                <a:solidFill>
                  <a:srgbClr val="94A3B8"/>
                </a:solidFill>
                <a:latin typeface="Segoe UI"/>
              </a:rPr>
              <a:t>Global dictionary of unique technical skills with NOCASE unique constraints.</a:t>
            </a:r>
          </a:p>
          <a:p>
            <a:pPr>
              <a:spcAft>
                <a:spcPts val="550"/>
              </a:spcAft>
            </a:pPr>
            <a:r>
              <a:rPr b="1" sz="1050">
                <a:solidFill>
                  <a:srgbClr val="F8FAFC"/>
                </a:solidFill>
                <a:latin typeface="Segoe UI"/>
              </a:rPr>
              <a:t>candidate_skills Table: </a:t>
            </a:r>
            <a:r>
              <a:rPr sz="1050">
                <a:solidFill>
                  <a:srgbClr val="94A3B8"/>
                </a:solidFill>
                <a:latin typeface="Segoe UI"/>
              </a:rPr>
              <a:t>Many-to-many junction table with cascade deletion and foreign keys (cleaned on re-seed).</a:t>
            </a:r>
          </a:p>
          <a:p>
            <a:pPr>
              <a:spcAft>
                <a:spcPts val="550"/>
              </a:spcAft>
            </a:pPr>
            <a:r>
              <a:rPr b="1" sz="1050">
                <a:solidFill>
                  <a:srgbClr val="F8FAFC"/>
                </a:solidFill>
                <a:latin typeface="Segoe UI"/>
              </a:rPr>
              <a:t>B-Tree Indexes: </a:t>
            </a:r>
            <a:r>
              <a:rPr sz="1050">
                <a:solidFill>
                  <a:srgbClr val="94A3B8"/>
                </a:solidFill>
                <a:latin typeface="Segoe UI"/>
              </a:rPr>
              <a:t>Targeted indexes on status, target_role, source, years_experience, and applied_date.</a:t>
            </a:r>
          </a:p>
        </p:txBody>
      </p:sp>
      <p:sp>
        <p:nvSpPr>
          <p:cNvPr id="9" name="Rounded Rectangle 8"/>
          <p:cNvSpPr/>
          <p:nvPr/>
        </p:nvSpPr>
        <p:spPr>
          <a:xfrm>
            <a:off x="731520" y="4754880"/>
            <a:ext cx="10698480" cy="164592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34D399"/>
                </a:solidFill>
                <a:latin typeface="Segoe UI"/>
              </a:defRPr>
            </a:pPr>
            <a:r>
              <a:t>High-Performance REST Endpoints (Single-Query Aggregations)</a:t>
            </a:r>
          </a:p>
          <a:p>
            <a:pPr>
              <a:spcAft>
                <a:spcPts val="550"/>
              </a:spcAft>
            </a:pPr>
            <a:r>
              <a:rPr b="1" sz="1050">
                <a:solidFill>
                  <a:srgbClr val="F8FAFC"/>
                </a:solidFill>
                <a:latin typeface="Segoe UI"/>
              </a:rPr>
              <a:t>GET /api/candidates: </a:t>
            </a:r>
            <a:r>
              <a:rPr sz="1050">
                <a:solidFill>
                  <a:srgbClr val="94A3B8"/>
                </a:solidFill>
                <a:latin typeface="Segoe UI"/>
              </a:rPr>
              <a:t>Paginated search and filtering with SQL parameters and SQL-injection-safe queries.</a:t>
            </a:r>
          </a:p>
          <a:p>
            <a:pPr>
              <a:spcAft>
                <a:spcPts val="550"/>
              </a:spcAft>
            </a:pPr>
            <a:r>
              <a:rPr b="1" sz="1050">
                <a:solidFill>
                  <a:srgbClr val="F8FAFC"/>
                </a:solidFill>
                <a:latin typeface="Segoe UI"/>
              </a:rPr>
              <a:t>GET /api/stats: </a:t>
            </a:r>
            <a:r>
              <a:rPr sz="1050">
                <a:solidFill>
                  <a:srgbClr val="94A3B8"/>
                </a:solidFill>
                <a:latin typeface="Segoe UI"/>
              </a:rPr>
              <a:t>Aggregate triage counts (Total, Untriaged, Shortlisted, Rejected) via a single GROUP BY query.</a:t>
            </a:r>
          </a:p>
          <a:p>
            <a:pPr>
              <a:spcAft>
                <a:spcPts val="550"/>
              </a:spcAft>
            </a:pPr>
            <a:r>
              <a:rPr b="1" sz="1050">
                <a:solidFill>
                  <a:srgbClr val="F8FAFC"/>
                </a:solidFill>
                <a:latin typeface="Segoe UI"/>
              </a:rPr>
              <a:t>GET /api/roles &amp; /sources: </a:t>
            </a:r>
            <a:r>
              <a:rPr sz="1050">
                <a:solidFill>
                  <a:srgbClr val="94A3B8"/>
                </a:solidFill>
                <a:latin typeface="Segoe UI"/>
              </a:rPr>
              <a:t>Distinct filter discovery endpoints eliminating full candidate sampling.</a:t>
            </a:r>
          </a:p>
          <a:p>
            <a:pPr>
              <a:spcAft>
                <a:spcPts val="550"/>
              </a:spcAft>
            </a:pPr>
            <a:r>
              <a:rPr b="1" sz="1050">
                <a:solidFill>
                  <a:srgbClr val="F8FAFC"/>
                </a:solidFill>
                <a:latin typeface="Segoe UI"/>
              </a:rPr>
              <a:t>PATCH /api/candidates/:id/status &amp; POST /api/ai/candidate-fit: </a:t>
            </a:r>
            <a:r>
              <a:rPr sz="1050">
                <a:solidFill>
                  <a:srgbClr val="94A3B8"/>
                </a:solidFill>
                <a:latin typeface="Segoe UI"/>
              </a:rPr>
              <a:t>Instant triage state updates and grounded Gemini fit evaluations.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2926080" cy="292608"/>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950" b="1">
                <a:solidFill>
                  <a:srgbClr val="38BDF8"/>
                </a:solidFill>
                <a:latin typeface="Segoe UI"/>
              </a:defRPr>
            </a:pPr>
            <a:r>
              <a:t>HIGH-SCALE ALGORITHMS</a:t>
            </a:r>
          </a:p>
        </p:txBody>
      </p:sp>
      <p:sp>
        <p:nvSpPr>
          <p:cNvPr id="4" name="TextBox 3"/>
          <p:cNvSpPr txBox="1"/>
          <p:nvPr/>
        </p:nvSpPr>
        <p:spPr>
          <a:xfrm>
            <a:off x="9601200" y="384048"/>
            <a:ext cx="1858975" cy="292608"/>
          </a:xfrm>
          <a:prstGeom prst="rect">
            <a:avLst/>
          </a:prstGeom>
          <a:noFill/>
        </p:spPr>
        <p:txBody>
          <a:bodyPr wrap="none" tIns="0" bIns="0" lIns="0" rIns="0">
            <a:spAutoFit/>
          </a:bodyPr>
          <a:lstStyle/>
          <a:p>
            <a:pPr algn="r">
              <a:defRPr sz="1000" b="1">
                <a:solidFill>
                  <a:srgbClr val="94A3B8"/>
                </a:solidFill>
                <a:latin typeface="Segoe UI"/>
              </a:defRPr>
            </a:pPr>
            <a:r>
              <a:t>SLIDE 04 / 08</a:t>
            </a:r>
          </a:p>
        </p:txBody>
      </p:sp>
      <p:sp>
        <p:nvSpPr>
          <p:cNvPr id="5" name="TextBox 4"/>
          <p:cNvSpPr txBox="1"/>
          <p:nvPr/>
        </p:nvSpPr>
        <p:spPr>
          <a:xfrm>
            <a:off x="731520" y="731520"/>
            <a:ext cx="10728655" cy="457200"/>
          </a:xfrm>
          <a:prstGeom prst="rect">
            <a:avLst/>
          </a:prstGeom>
          <a:noFill/>
        </p:spPr>
        <p:txBody>
          <a:bodyPr wrap="square" lIns="0" tIns="0" rIns="0" bIns="0">
            <a:spAutoFit/>
          </a:bodyPr>
          <a:lstStyle/>
          <a:p>
            <a:pPr>
              <a:defRPr sz="2100" b="1">
                <a:solidFill>
                  <a:srgbClr val="F8FAFC"/>
                </a:solidFill>
                <a:latin typeface="Segoe UI"/>
              </a:defRPr>
            </a:pPr>
            <a:r>
              <a:t>Candidate Ranking at Scale: Bucket Sort vs. Inverted Index</a:t>
            </a:r>
          </a:p>
        </p:txBody>
      </p:sp>
      <p:sp>
        <p:nvSpPr>
          <p:cNvPr id="6" name="TextBox 5"/>
          <p:cNvSpPr txBox="1"/>
          <p:nvPr/>
        </p:nvSpPr>
        <p:spPr>
          <a:xfrm>
            <a:off x="731520" y="1207008"/>
            <a:ext cx="10728655" cy="320040"/>
          </a:xfrm>
          <a:prstGeom prst="rect">
            <a:avLst/>
          </a:prstGeom>
          <a:noFill/>
        </p:spPr>
        <p:txBody>
          <a:bodyPr wrap="square" lIns="0" tIns="0" rIns="0" bIns="0">
            <a:spAutoFit/>
          </a:bodyPr>
          <a:lstStyle/>
          <a:p>
            <a:pPr>
              <a:defRPr sz="1150">
                <a:solidFill>
                  <a:srgbClr val="94A3B8"/>
                </a:solidFill>
                <a:latin typeface="Segoe UI"/>
              </a:defRPr>
            </a:pPr>
            <a:r>
              <a:t>Evaluating 100,000 synthetic candidates with deterministic multi-tier tie-breaking</a:t>
            </a:r>
          </a:p>
        </p:txBody>
      </p:sp>
      <p:sp>
        <p:nvSpPr>
          <p:cNvPr id="7" name="Rounded Rectangle 6"/>
          <p:cNvSpPr/>
          <p:nvPr/>
        </p:nvSpPr>
        <p:spPr>
          <a:xfrm>
            <a:off x="731520" y="1645920"/>
            <a:ext cx="5212080" cy="297180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38BDF8"/>
                </a:solidFill>
                <a:latin typeface="Segoe UI"/>
              </a:defRPr>
            </a:pPr>
            <a:r>
              <a:t>Algorithm Design &amp; Complexity</a:t>
            </a:r>
          </a:p>
          <a:p>
            <a:pPr>
              <a:spcAft>
                <a:spcPts val="550"/>
              </a:spcAft>
            </a:pPr>
            <a:r>
              <a:rPr b="1" sz="1050">
                <a:solidFill>
                  <a:srgbClr val="F8FAFC"/>
                </a:solidFill>
                <a:latin typeface="Segoe UI"/>
              </a:rPr>
              <a:t>Problem Mandate: </a:t>
            </a:r>
            <a:r>
              <a:rPr sz="1050">
                <a:solidFill>
                  <a:srgbClr val="94A3B8"/>
                </a:solidFill>
                <a:latin typeface="Segoe UI"/>
              </a:rPr>
              <a:t>Rank 100,000 candidates by distinct required skill overlap with deterministic tie-breaking.</a:t>
            </a:r>
          </a:p>
          <a:p>
            <a:pPr>
              <a:spcAft>
                <a:spcPts val="550"/>
              </a:spcAft>
            </a:pPr>
            <a:r>
              <a:rPr b="1" sz="1050">
                <a:solidFill>
                  <a:srgbClr val="F8FAFC"/>
                </a:solidFill>
                <a:latin typeface="Segoe UI"/>
              </a:rPr>
              <a:t>Skill Intersection: </a:t>
            </a:r>
            <a:r>
              <a:rPr sz="1050">
                <a:solidFill>
                  <a:srgbClr val="94A3B8"/>
                </a:solidFill>
                <a:latin typeface="Segoe UI"/>
              </a:rPr>
              <a:t>Distinct set matching: duplicate candidate or query skills never inflate match scores.</a:t>
            </a:r>
          </a:p>
          <a:p>
            <a:pPr>
              <a:spcAft>
                <a:spcPts val="550"/>
              </a:spcAft>
            </a:pPr>
            <a:r>
              <a:rPr b="1" sz="1050">
                <a:solidFill>
                  <a:srgbClr val="F8FAFC"/>
                </a:solidFill>
                <a:latin typeface="Segoe UI"/>
              </a:rPr>
              <a:t>Bucket Partitioning: </a:t>
            </a:r>
            <a:r>
              <a:rPr sz="1050">
                <a:solidFill>
                  <a:srgbClr val="94A3B8"/>
                </a:solidFill>
                <a:latin typeface="Segoe UI"/>
              </a:rPr>
              <a:t>Partitions candidates into R+1 score buckets in O(N * S_c) linear time.</a:t>
            </a:r>
          </a:p>
          <a:p>
            <a:pPr>
              <a:spcAft>
                <a:spcPts val="550"/>
              </a:spcAft>
            </a:pPr>
            <a:r>
              <a:rPr b="1" sz="1050">
                <a:solidFill>
                  <a:srgbClr val="F8FAFC"/>
                </a:solidFill>
                <a:latin typeface="Segoe UI"/>
              </a:rPr>
              <a:t>Deterministic Tie-Breaker: </a:t>
            </a:r>
            <a:r>
              <a:rPr sz="1050">
                <a:solidFill>
                  <a:srgbClr val="94A3B8"/>
                </a:solidFill>
                <a:latin typeface="Segoe UI"/>
              </a:rPr>
              <a:t>Score (desc) -&gt; Experience (desc) -&gt; Name (asc) -&gt; ID (asc).</a:t>
            </a:r>
          </a:p>
        </p:txBody>
      </p:sp>
      <p:sp>
        <p:nvSpPr>
          <p:cNvPr id="8" name="Rounded Rectangle 7"/>
          <p:cNvSpPr/>
          <p:nvPr/>
        </p:nvSpPr>
        <p:spPr>
          <a:xfrm>
            <a:off x="6217920" y="1645920"/>
            <a:ext cx="5212080" cy="297180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34D399"/>
                </a:solidFill>
                <a:latin typeface="Segoe UI"/>
              </a:defRPr>
            </a:pPr>
            <a:r>
              <a:t>Honest Benchmark (100,000 Candidates, Node v22)</a:t>
            </a:r>
          </a:p>
          <a:p>
            <a:pPr>
              <a:spcAft>
                <a:spcPts val="550"/>
              </a:spcAft>
            </a:pPr>
            <a:r>
              <a:rPr b="1" sz="1050">
                <a:solidFill>
                  <a:srgbClr val="F8FAFC"/>
                </a:solidFill>
                <a:latin typeface="Segoe UI"/>
              </a:rPr>
              <a:t>Baseline Full Array Sort: </a:t>
            </a:r>
            <a:r>
              <a:rPr sz="1050">
                <a:solidFill>
                  <a:srgbClr val="94A3B8"/>
                </a:solidFill>
                <a:latin typeface="Segoe UI"/>
              </a:rPr>
              <a:t>265.00 ms median (272.73 ms mean) — O(N * S_c + N log N).</a:t>
            </a:r>
          </a:p>
          <a:p>
            <a:pPr>
              <a:spcAft>
                <a:spcPts val="550"/>
              </a:spcAft>
            </a:pPr>
            <a:r>
              <a:rPr b="1" sz="1050">
                <a:solidFill>
                  <a:srgbClr val="F8FAFC"/>
                </a:solidFill>
                <a:latin typeface="Segoe UI"/>
              </a:rPr>
              <a:t>Bucket Sort Full Rank: </a:t>
            </a:r>
            <a:r>
              <a:rPr sz="1050">
                <a:solidFill>
                  <a:srgbClr val="94A3B8"/>
                </a:solidFill>
                <a:latin typeface="Segoe UI"/>
              </a:rPr>
              <a:t>253.88 ms median (279.97 ms mean) — ~1x speedup (no significant gain because all non-empty buckets must still be sorted in full).</a:t>
            </a:r>
          </a:p>
          <a:p>
            <a:pPr>
              <a:spcAft>
                <a:spcPts val="550"/>
              </a:spcAft>
            </a:pPr>
            <a:r>
              <a:rPr b="1" sz="1050">
                <a:solidFill>
                  <a:srgbClr val="F8FAFC"/>
                </a:solidFill>
                <a:latin typeface="Segoe UI"/>
              </a:rPr>
              <a:t>Bucket Sort Top-100 Early Exit: </a:t>
            </a:r>
            <a:r>
              <a:rPr sz="1050">
                <a:solidFill>
                  <a:srgbClr val="94A3B8"/>
                </a:solidFill>
                <a:latin typeface="Segoe UI"/>
              </a:rPr>
              <a:t>102.18 ms median (134.23 ms mean) — ~2x speedup (2.03x mean, 2.59x median) because it skips lower score buckets.</a:t>
            </a:r>
          </a:p>
        </p:txBody>
      </p:sp>
      <p:sp>
        <p:nvSpPr>
          <p:cNvPr id="9" name="Rounded Rectangle 8"/>
          <p:cNvSpPr/>
          <p:nvPr/>
        </p:nvSpPr>
        <p:spPr>
          <a:xfrm>
            <a:off x="731520" y="4754880"/>
            <a:ext cx="10698480" cy="164592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FBBF24"/>
                </a:solidFill>
                <a:latin typeface="Segoe UI"/>
              </a:defRPr>
            </a:pPr>
            <a:r>
              <a:t>Architectural Next Step: Inverted Skill Index</a:t>
            </a:r>
          </a:p>
          <a:p>
            <a:pPr>
              <a:spcAft>
                <a:spcPts val="550"/>
              </a:spcAft>
            </a:pPr>
            <a:r>
              <a:rPr b="1" sz="1050">
                <a:solidFill>
                  <a:srgbClr val="F8FAFC"/>
                </a:solidFill>
                <a:latin typeface="Segoe UI"/>
              </a:rPr>
              <a:t>The Inverted Index Advantage: </a:t>
            </a:r>
            <a:r>
              <a:rPr sz="1050">
                <a:solidFill>
                  <a:srgbClr val="94A3B8"/>
                </a:solidFill>
                <a:latin typeface="Segoe UI"/>
              </a:rPr>
              <a:t>For repeated queries over an existing corpus, an Inverted Index (Map&lt;skill, candidateId[]&gt;) is structurally superior: candidates with zero matching skills are never touched, dropping query time to O(sum |Postings(R_j)|).</a:t>
            </a:r>
          </a:p>
          <a:p>
            <a:pPr>
              <a:spcAft>
                <a:spcPts val="550"/>
              </a:spcAft>
            </a:pPr>
            <a:r>
              <a:rPr b="1" sz="1050">
                <a:solidFill>
                  <a:srgbClr val="F8FAFC"/>
                </a:solidFill>
                <a:latin typeface="Segoe UI"/>
              </a:rPr>
              <a:t>Production Recommendation: </a:t>
            </a:r>
            <a:r>
              <a:rPr sz="1050">
                <a:solidFill>
                  <a:srgbClr val="94A3B8"/>
                </a:solidFill>
                <a:latin typeface="Segoe UI"/>
              </a:rPr>
              <a:t>Use Bucket Sort for one-off dynamic batches; use an Inverted Index in memory for interactive recruiter search.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2926080" cy="292608"/>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950" b="1">
                <a:solidFill>
                  <a:srgbClr val="38BDF8"/>
                </a:solidFill>
                <a:latin typeface="Segoe UI"/>
              </a:defRPr>
            </a:pPr>
            <a:r>
              <a:t>AI-ASSISTED ENGINEERING</a:t>
            </a:r>
          </a:p>
        </p:txBody>
      </p:sp>
      <p:sp>
        <p:nvSpPr>
          <p:cNvPr id="4" name="TextBox 3"/>
          <p:cNvSpPr txBox="1"/>
          <p:nvPr/>
        </p:nvSpPr>
        <p:spPr>
          <a:xfrm>
            <a:off x="9601200" y="384048"/>
            <a:ext cx="1858975" cy="292608"/>
          </a:xfrm>
          <a:prstGeom prst="rect">
            <a:avLst/>
          </a:prstGeom>
          <a:noFill/>
        </p:spPr>
        <p:txBody>
          <a:bodyPr wrap="none" tIns="0" bIns="0" lIns="0" rIns="0">
            <a:spAutoFit/>
          </a:bodyPr>
          <a:lstStyle/>
          <a:p>
            <a:pPr algn="r">
              <a:defRPr sz="1000" b="1">
                <a:solidFill>
                  <a:srgbClr val="94A3B8"/>
                </a:solidFill>
                <a:latin typeface="Segoe UI"/>
              </a:defRPr>
            </a:pPr>
            <a:r>
              <a:t>SLIDE 05 / 08</a:t>
            </a:r>
          </a:p>
        </p:txBody>
      </p:sp>
      <p:sp>
        <p:nvSpPr>
          <p:cNvPr id="5" name="TextBox 4"/>
          <p:cNvSpPr txBox="1"/>
          <p:nvPr/>
        </p:nvSpPr>
        <p:spPr>
          <a:xfrm>
            <a:off x="731520" y="731520"/>
            <a:ext cx="10728655" cy="457200"/>
          </a:xfrm>
          <a:prstGeom prst="rect">
            <a:avLst/>
          </a:prstGeom>
          <a:noFill/>
        </p:spPr>
        <p:txBody>
          <a:bodyPr wrap="square" lIns="0" tIns="0" rIns="0" bIns="0">
            <a:spAutoFit/>
          </a:bodyPr>
          <a:lstStyle/>
          <a:p>
            <a:pPr>
              <a:defRPr sz="2100" b="1">
                <a:solidFill>
                  <a:srgbClr val="F8FAFC"/>
                </a:solidFill>
                <a:latin typeface="Segoe UI"/>
              </a:defRPr>
            </a:pPr>
            <a:r>
              <a:t>Task 2b: AI Code Review &amp; Senior Engineering Reflection</a:t>
            </a:r>
          </a:p>
        </p:txBody>
      </p:sp>
      <p:sp>
        <p:nvSpPr>
          <p:cNvPr id="6" name="TextBox 5"/>
          <p:cNvSpPr txBox="1"/>
          <p:nvPr/>
        </p:nvSpPr>
        <p:spPr>
          <a:xfrm>
            <a:off x="731520" y="1207008"/>
            <a:ext cx="10728655" cy="320040"/>
          </a:xfrm>
          <a:prstGeom prst="rect">
            <a:avLst/>
          </a:prstGeom>
          <a:noFill/>
        </p:spPr>
        <p:txBody>
          <a:bodyPr wrap="square" lIns="0" tIns="0" rIns="0" bIns="0">
            <a:spAutoFit/>
          </a:bodyPr>
          <a:lstStyle/>
          <a:p>
            <a:pPr>
              <a:defRPr sz="1150">
                <a:solidFill>
                  <a:srgbClr val="94A3B8"/>
                </a:solidFill>
                <a:latin typeface="Segoe UI"/>
              </a:defRPr>
            </a:pPr>
            <a:r>
              <a:t>Dissecting realistic AI code defects and establishing defensive engineering standards</a:t>
            </a:r>
          </a:p>
        </p:txBody>
      </p:sp>
      <p:sp>
        <p:nvSpPr>
          <p:cNvPr id="7" name="Rounded Rectangle 6"/>
          <p:cNvSpPr/>
          <p:nvPr/>
        </p:nvSpPr>
        <p:spPr>
          <a:xfrm>
            <a:off x="731520" y="1645920"/>
            <a:ext cx="5212080" cy="475488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F87171"/>
                </a:solidFill>
                <a:latin typeface="Segoe UI"/>
              </a:defRPr>
            </a:pPr>
            <a:r>
              <a:t>Defect Analysis in Flawed AI Code</a:t>
            </a:r>
          </a:p>
          <a:p>
            <a:pPr>
              <a:spcAft>
                <a:spcPts val="550"/>
              </a:spcAft>
            </a:pPr>
            <a:r>
              <a:rPr b="1" sz="1050">
                <a:solidFill>
                  <a:srgbClr val="F8FAFC"/>
                </a:solidFill>
                <a:latin typeface="Segoe UI"/>
              </a:rPr>
              <a:t>Fatal Boundary Crash: </a:t>
            </a:r>
            <a:r>
              <a:rPr sz="1050">
                <a:solidFill>
                  <a:srgbClr val="94A3B8"/>
                </a:solidFill>
                <a:latin typeface="Segoe UI"/>
              </a:rPr>
              <a:t>i &lt;= candidates.length off-by-one boundary caused a fatal TypeError crash on the last iteration.</a:t>
            </a:r>
          </a:p>
          <a:p>
            <a:pPr>
              <a:spcAft>
                <a:spcPts val="550"/>
              </a:spcAft>
            </a:pPr>
            <a:r>
              <a:rPr b="1" sz="1050">
                <a:solidFill>
                  <a:srgbClr val="F8FAFC"/>
                </a:solidFill>
                <a:latin typeface="Segoe UI"/>
              </a:rPr>
              <a:t>Global Scope Leak: </a:t>
            </a:r>
            <a:r>
              <a:rPr sz="1050">
                <a:solidFill>
                  <a:srgbClr val="94A3B8"/>
                </a:solidFill>
                <a:latin typeface="Segoe UI"/>
              </a:rPr>
              <a:t>i = 0 undeclared loop counter leaked into the global namespace.</a:t>
            </a:r>
          </a:p>
          <a:p>
            <a:pPr>
              <a:spcAft>
                <a:spcPts val="550"/>
              </a:spcAft>
            </a:pPr>
            <a:r>
              <a:rPr b="1" sz="1050">
                <a:solidFill>
                  <a:srgbClr val="F8FAFC"/>
                </a:solidFill>
                <a:latin typeface="Segoe UI"/>
              </a:rPr>
              <a:t>Type Error on Score: </a:t>
            </a:r>
            <a:r>
              <a:rPr sz="1050">
                <a:solidFill>
                  <a:srgbClr val="94A3B8"/>
                </a:solidFill>
                <a:latin typeface="Segoe UI"/>
              </a:rPr>
              <a:t>score = c.skills.filter(...) assigned an array of strings instead of a numeric count.</a:t>
            </a:r>
          </a:p>
          <a:p>
            <a:pPr>
              <a:spcAft>
                <a:spcPts val="550"/>
              </a:spcAft>
            </a:pPr>
            <a:r>
              <a:rPr b="1" sz="1050">
                <a:solidFill>
                  <a:srgbClr val="F8FAFC"/>
                </a:solidFill>
                <a:latin typeface="Segoe UI"/>
              </a:rPr>
              <a:t>Comparator NaN Invalidation: </a:t>
            </a:r>
            <a:r>
              <a:rPr sz="1050">
                <a:solidFill>
                  <a:srgbClr val="94A3B8"/>
                </a:solidFill>
                <a:latin typeface="Segoe UI"/>
              </a:rPr>
              <a:t>matches.sort((a,b) =&gt; a.score - b.score) performed array subtraction, resulting in NaN and broken non-deterministic sorting.</a:t>
            </a:r>
          </a:p>
          <a:p>
            <a:pPr>
              <a:spcAft>
                <a:spcPts val="550"/>
              </a:spcAft>
            </a:pPr>
            <a:r>
              <a:rPr b="1" sz="1050">
                <a:solidFill>
                  <a:srgbClr val="F8FAFC"/>
                </a:solidFill>
                <a:latin typeface="Segoe UI"/>
              </a:rPr>
              <a:t>Missing Normalization: </a:t>
            </a:r>
            <a:r>
              <a:rPr sz="1050">
                <a:solidFill>
                  <a:srgbClr val="94A3B8"/>
                </a:solidFill>
                <a:latin typeface="Segoe UI"/>
              </a:rPr>
              <a:t>Ignored skill casing, allowed duplicate candidate skills to inflate score, and had no deterministic tie-breaker.</a:t>
            </a:r>
          </a:p>
        </p:txBody>
      </p:sp>
      <p:sp>
        <p:nvSpPr>
          <p:cNvPr id="8" name="Rounded Rectangle 7"/>
          <p:cNvSpPr/>
          <p:nvPr/>
        </p:nvSpPr>
        <p:spPr>
          <a:xfrm>
            <a:off x="6217920" y="1645920"/>
            <a:ext cx="5212080" cy="475488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818CF8"/>
                </a:solidFill>
                <a:latin typeface="Segoe UI"/>
              </a:defRPr>
            </a:pPr>
            <a:r>
              <a:t>Corrected Module &amp; Key Takeaway</a:t>
            </a:r>
          </a:p>
          <a:p>
            <a:pPr>
              <a:spcAft>
                <a:spcPts val="550"/>
              </a:spcAft>
            </a:pPr>
            <a:r>
              <a:rPr b="1" sz="1050">
                <a:solidFill>
                  <a:srgbClr val="F8FAFC"/>
                </a:solidFill>
                <a:latin typeface="Segoe UI"/>
              </a:rPr>
              <a:t>matchCandidatesFixed.ts: </a:t>
            </a:r>
            <a:r>
              <a:rPr sz="1050">
                <a:solidFill>
                  <a:srgbClr val="94A3B8"/>
                </a:solidFill>
                <a:latin typeface="Segoe UI"/>
              </a:rPr>
              <a:t>Implemented strict TypeScript types, case-normalization, distinct set intersection, and deterministic 4-tier descending sort.</a:t>
            </a:r>
          </a:p>
          <a:p>
            <a:pPr>
              <a:spcAft>
                <a:spcPts val="550"/>
              </a:spcAft>
            </a:pPr>
            <a:r>
              <a:rPr b="1" sz="1050">
                <a:solidFill>
                  <a:srgbClr val="F8FAFC"/>
                </a:solidFill>
                <a:latin typeface="Segoe UI"/>
              </a:rPr>
              <a:t>Dual-Algorithm Parity Tests: </a:t>
            </a:r>
            <a:r>
              <a:rPr sz="1050">
                <a:solidFill>
                  <a:srgbClr val="94A3B8"/>
                </a:solidFill>
                <a:latin typeface="Segoe UI"/>
              </a:rPr>
              <a:t>Wrote automated tests validating invariant parity and deterministic output between baseline and optimized modules.</a:t>
            </a:r>
          </a:p>
          <a:p>
            <a:pPr>
              <a:spcAft>
                <a:spcPts val="550"/>
              </a:spcAft>
            </a:pPr>
            <a:r>
              <a:rPr b="1" sz="1050">
                <a:solidFill>
                  <a:srgbClr val="F8FAFC"/>
                </a:solidFill>
                <a:latin typeface="Segoe UI"/>
              </a:rPr>
              <a:t>Senior Engineering Reflection: </a:t>
            </a:r>
            <a:r>
              <a:rPr sz="1050">
                <a:solidFill>
                  <a:srgbClr val="94A3B8"/>
                </a:solidFill>
                <a:latin typeface="Segoe UI"/>
              </a:rPr>
              <a:t>"A developer who glanced at the AI output without reading line-by-line would see syntax that looked reasonable, but ship code that immediately crashed in production with an off-by-one exception, failed to compute numeric scores, and produced non-deterministic sorting due to NaN array arithmetic."</a:t>
            </a:r>
          </a:p>
          <a:p>
            <a:pPr>
              <a:spcAft>
                <a:spcPts val="550"/>
              </a:spcAft>
            </a:pPr>
            <a:r>
              <a:rPr b="1" sz="1050">
                <a:solidFill>
                  <a:srgbClr val="F8FAFC"/>
                </a:solidFill>
                <a:latin typeface="Segoe UI"/>
              </a:rPr>
              <a:t>AI-Native Takeaway: </a:t>
            </a:r>
            <a:r>
              <a:rPr sz="1050">
                <a:solidFill>
                  <a:srgbClr val="94A3B8"/>
                </a:solidFill>
                <a:latin typeface="Segoe UI"/>
              </a:rPr>
              <a:t>AI accelerates boilerplate in minutes, but human verification, strict typing, and automated testing are non-negotiable.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2926080" cy="292608"/>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950" b="1">
                <a:solidFill>
                  <a:srgbClr val="38BDF8"/>
                </a:solidFill>
                <a:latin typeface="Segoe UI"/>
              </a:defRPr>
            </a:pPr>
            <a:r>
              <a:t>INTERACTIVE DEMO</a:t>
            </a:r>
          </a:p>
        </p:txBody>
      </p:sp>
      <p:sp>
        <p:nvSpPr>
          <p:cNvPr id="4" name="TextBox 3"/>
          <p:cNvSpPr txBox="1"/>
          <p:nvPr/>
        </p:nvSpPr>
        <p:spPr>
          <a:xfrm>
            <a:off x="9601200" y="384048"/>
            <a:ext cx="1858975" cy="292608"/>
          </a:xfrm>
          <a:prstGeom prst="rect">
            <a:avLst/>
          </a:prstGeom>
          <a:noFill/>
        </p:spPr>
        <p:txBody>
          <a:bodyPr wrap="none" tIns="0" bIns="0" lIns="0" rIns="0">
            <a:spAutoFit/>
          </a:bodyPr>
          <a:lstStyle/>
          <a:p>
            <a:pPr algn="r">
              <a:defRPr sz="1000" b="1">
                <a:solidFill>
                  <a:srgbClr val="94A3B8"/>
                </a:solidFill>
                <a:latin typeface="Segoe UI"/>
              </a:defRPr>
            </a:pPr>
            <a:r>
              <a:t>SLIDE 06 / 08</a:t>
            </a:r>
          </a:p>
        </p:txBody>
      </p:sp>
      <p:sp>
        <p:nvSpPr>
          <p:cNvPr id="5" name="TextBox 4"/>
          <p:cNvSpPr txBox="1"/>
          <p:nvPr/>
        </p:nvSpPr>
        <p:spPr>
          <a:xfrm>
            <a:off x="731520" y="731520"/>
            <a:ext cx="10728655" cy="457200"/>
          </a:xfrm>
          <a:prstGeom prst="rect">
            <a:avLst/>
          </a:prstGeom>
          <a:noFill/>
        </p:spPr>
        <p:txBody>
          <a:bodyPr wrap="square" lIns="0" tIns="0" rIns="0" bIns="0">
            <a:spAutoFit/>
          </a:bodyPr>
          <a:lstStyle/>
          <a:p>
            <a:pPr>
              <a:defRPr sz="2100" b="1">
                <a:solidFill>
                  <a:srgbClr val="F8FAFC"/>
                </a:solidFill>
                <a:latin typeface="Segoe UI"/>
              </a:defRPr>
            </a:pPr>
            <a:r>
              <a:t>Live Walkthrough: Recruiter Operations Dashboard</a:t>
            </a:r>
          </a:p>
        </p:txBody>
      </p:sp>
      <p:sp>
        <p:nvSpPr>
          <p:cNvPr id="6" name="TextBox 5"/>
          <p:cNvSpPr txBox="1"/>
          <p:nvPr/>
        </p:nvSpPr>
        <p:spPr>
          <a:xfrm>
            <a:off x="731520" y="1207008"/>
            <a:ext cx="10728655" cy="320040"/>
          </a:xfrm>
          <a:prstGeom prst="rect">
            <a:avLst/>
          </a:prstGeom>
          <a:noFill/>
        </p:spPr>
        <p:txBody>
          <a:bodyPr wrap="square" lIns="0" tIns="0" rIns="0" bIns="0">
            <a:spAutoFit/>
          </a:bodyPr>
          <a:lstStyle/>
          <a:p>
            <a:pPr>
              <a:defRPr sz="1150">
                <a:solidFill>
                  <a:srgbClr val="94A3B8"/>
                </a:solidFill>
                <a:latin typeface="Segoe UI"/>
              </a:defRPr>
            </a:pPr>
            <a:r>
              <a:t>High-contrast dark-mode interface with instant status KPI tracking and optimistic triage mutations</a:t>
            </a:r>
          </a:p>
        </p:txBody>
      </p:sp>
      <p:sp>
        <p:nvSpPr>
          <p:cNvPr id="7" name="Rounded Rectangle 6"/>
          <p:cNvSpPr/>
          <p:nvPr/>
        </p:nvSpPr>
        <p:spPr>
          <a:xfrm>
            <a:off x="731520" y="1645920"/>
            <a:ext cx="4754880" cy="475488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38BDF8"/>
                </a:solidFill>
                <a:latin typeface="Segoe UI"/>
              </a:defRPr>
            </a:pPr>
            <a:r>
              <a:t>Recruiter Operational Capabilities</a:t>
            </a:r>
          </a:p>
          <a:p>
            <a:pPr>
              <a:spcAft>
                <a:spcPts val="550"/>
              </a:spcAft>
            </a:pPr>
            <a:r>
              <a:rPr b="1" sz="1050">
                <a:solidFill>
                  <a:srgbClr val="F8FAFC"/>
                </a:solidFill>
                <a:latin typeface="Segoe UI"/>
              </a:rPr>
              <a:t>Real-Time KPI Cards: </a:t>
            </a:r>
            <a:r>
              <a:rPr sz="1050">
                <a:solidFill>
                  <a:srgbClr val="94A3B8"/>
                </a:solidFill>
                <a:latin typeface="Segoe UI"/>
              </a:rPr>
              <a:t>Live aggregate counters (48 Total, Needs Review, Shortlisted, Archived) with single-click status filtering.</a:t>
            </a:r>
          </a:p>
          <a:p>
            <a:pPr>
              <a:spcAft>
                <a:spcPts val="550"/>
              </a:spcAft>
            </a:pPr>
            <a:r>
              <a:rPr b="1" sz="1050">
                <a:solidFill>
                  <a:srgbClr val="F8FAFC"/>
                </a:solidFill>
                <a:latin typeface="Segoe UI"/>
              </a:rPr>
              <a:t>Multi-Criteria Filter Bar: </a:t>
            </a:r>
            <a:r>
              <a:rPr sz="1050">
                <a:solidFill>
                  <a:srgbClr val="94A3B8"/>
                </a:solidFill>
                <a:latin typeface="Segoe UI"/>
              </a:rPr>
              <a:t>Debounced search across candidate names, notes, roles, and skills; range sliders for experience.</a:t>
            </a:r>
          </a:p>
          <a:p>
            <a:pPr>
              <a:spcAft>
                <a:spcPts val="550"/>
              </a:spcAft>
            </a:pPr>
            <a:r>
              <a:rPr b="1" sz="1050">
                <a:solidFill>
                  <a:srgbClr val="F8FAFC"/>
                </a:solidFill>
                <a:latin typeface="Segoe UI"/>
              </a:rPr>
              <a:t>One-Click Triage Actions: </a:t>
            </a:r>
            <a:r>
              <a:rPr sz="1050">
                <a:solidFill>
                  <a:srgbClr val="94A3B8"/>
                </a:solidFill>
                <a:latin typeface="Segoe UI"/>
              </a:rPr>
              <a:t>Instant Shortlist, Reject, or Reset buttons mutating SQLite via PATCH /api/candidates/:id/status.</a:t>
            </a:r>
          </a:p>
          <a:p>
            <a:pPr>
              <a:spcAft>
                <a:spcPts val="550"/>
              </a:spcAft>
            </a:pPr>
            <a:r>
              <a:rPr b="1" sz="1050">
                <a:solidFill>
                  <a:srgbClr val="F8FAFC"/>
                </a:solidFill>
                <a:latin typeface="Segoe UI"/>
              </a:rPr>
              <a:t>Optimistic Feedback: </a:t>
            </a:r>
            <a:r>
              <a:rPr sz="1050">
                <a:solidFill>
                  <a:srgbClr val="94A3B8"/>
                </a:solidFill>
                <a:latin typeface="Segoe UI"/>
              </a:rPr>
              <a:t>Immediate UI status badge update with animated toast notification and counter synchronization.</a:t>
            </a:r>
          </a:p>
          <a:p>
            <a:pPr>
              <a:spcAft>
                <a:spcPts val="550"/>
              </a:spcAft>
            </a:pPr>
            <a:r>
              <a:rPr b="1" sz="1050">
                <a:solidFill>
                  <a:srgbClr val="F8FAFC"/>
                </a:solidFill>
                <a:latin typeface="Segoe UI"/>
              </a:rPr>
              <a:t>Accessibility Conscious: </a:t>
            </a:r>
            <a:r>
              <a:rPr sz="1050">
                <a:solidFill>
                  <a:srgbClr val="94A3B8"/>
                </a:solidFill>
                <a:latin typeface="Segoe UI"/>
              </a:rPr>
              <a:t>Full keyboard navigation, semantic table roles, ARIA labels, and high-contrast styling.</a:t>
            </a:r>
          </a:p>
        </p:txBody>
      </p:sp>
      <p:sp>
        <p:nvSpPr>
          <p:cNvPr id="8" name="Rounded Rectangle 7"/>
          <p:cNvSpPr/>
          <p:nvPr/>
        </p:nvSpPr>
        <p:spPr>
          <a:xfrm>
            <a:off x="5852160" y="1645920"/>
            <a:ext cx="5577840" cy="256032"/>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00" b="1">
                <a:solidFill>
                  <a:srgbClr val="38BDF8"/>
                </a:solidFill>
                <a:latin typeface="Segoe UI"/>
              </a:defRPr>
            </a:pPr>
            <a:r>
              <a:t>Main Recruiter Dashboard (KPI Cards &amp; Multi-Filter Bar)</a:t>
            </a:r>
          </a:p>
        </p:txBody>
      </p:sp>
      <p:sp>
        <p:nvSpPr>
          <p:cNvPr id="9" name="Rounded Rectangle 8"/>
          <p:cNvSpPr/>
          <p:nvPr/>
        </p:nvSpPr>
        <p:spPr>
          <a:xfrm>
            <a:off x="5852160" y="1938528"/>
            <a:ext cx="5577840" cy="2468880"/>
          </a:xfrm>
          <a:prstGeom prst="roundRect">
            <a:avLst/>
          </a:prstGeom>
          <a:solidFill>
            <a:srgbClr val="0F172A"/>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1-dashboard-overview.png"/>
          <p:cNvPicPr>
            <a:picLocks noChangeAspect="1"/>
          </p:cNvPicPr>
          <p:nvPr/>
        </p:nvPicPr>
        <p:blipFill>
          <a:blip r:embed="rId2"/>
          <a:stretch>
            <a:fillRect/>
          </a:stretch>
        </p:blipFill>
        <p:spPr>
          <a:xfrm>
            <a:off x="5852160" y="1938528"/>
            <a:ext cx="5577840" cy="2468880"/>
          </a:xfrm>
          <a:prstGeom prst="rect">
            <a:avLst/>
          </a:prstGeom>
        </p:spPr>
      </p:pic>
      <p:sp>
        <p:nvSpPr>
          <p:cNvPr id="11" name="Rounded Rectangle 10"/>
          <p:cNvSpPr/>
          <p:nvPr/>
        </p:nvSpPr>
        <p:spPr>
          <a:xfrm>
            <a:off x="5852160" y="4462272"/>
            <a:ext cx="5577840" cy="256032"/>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00" b="1">
                <a:solidFill>
                  <a:srgbClr val="38BDF8"/>
                </a:solidFill>
                <a:latin typeface="Segoe UI"/>
              </a:defRPr>
            </a:pPr>
            <a:r>
              <a:t>Instant Status Mutation with Animated Toast Confirmation</a:t>
            </a:r>
          </a:p>
        </p:txBody>
      </p:sp>
      <p:sp>
        <p:nvSpPr>
          <p:cNvPr id="12" name="Rounded Rectangle 11"/>
          <p:cNvSpPr/>
          <p:nvPr/>
        </p:nvSpPr>
        <p:spPr>
          <a:xfrm>
            <a:off x="5852160" y="4754880"/>
            <a:ext cx="5577840" cy="1536192"/>
          </a:xfrm>
          <a:prstGeom prst="roundRect">
            <a:avLst/>
          </a:prstGeom>
          <a:solidFill>
            <a:srgbClr val="0F172A"/>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04-triage-action-toast.png"/>
          <p:cNvPicPr>
            <a:picLocks noChangeAspect="1"/>
          </p:cNvPicPr>
          <p:nvPr/>
        </p:nvPicPr>
        <p:blipFill>
          <a:blip r:embed="rId3"/>
          <a:stretch>
            <a:fillRect/>
          </a:stretch>
        </p:blipFill>
        <p:spPr>
          <a:xfrm>
            <a:off x="5852160" y="4754880"/>
            <a:ext cx="5577840" cy="153619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2926080" cy="292608"/>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950" b="1">
                <a:solidFill>
                  <a:srgbClr val="38BDF8"/>
                </a:solidFill>
                <a:latin typeface="Segoe UI"/>
              </a:defRPr>
            </a:pPr>
            <a:r>
              <a:t>GENERATIVE AI INTEGRATION</a:t>
            </a:r>
          </a:p>
        </p:txBody>
      </p:sp>
      <p:sp>
        <p:nvSpPr>
          <p:cNvPr id="4" name="TextBox 3"/>
          <p:cNvSpPr txBox="1"/>
          <p:nvPr/>
        </p:nvSpPr>
        <p:spPr>
          <a:xfrm>
            <a:off x="9601200" y="384048"/>
            <a:ext cx="1858975" cy="292608"/>
          </a:xfrm>
          <a:prstGeom prst="rect">
            <a:avLst/>
          </a:prstGeom>
          <a:noFill/>
        </p:spPr>
        <p:txBody>
          <a:bodyPr wrap="none" tIns="0" bIns="0" lIns="0" rIns="0">
            <a:spAutoFit/>
          </a:bodyPr>
          <a:lstStyle/>
          <a:p>
            <a:pPr algn="r">
              <a:defRPr sz="1000" b="1">
                <a:solidFill>
                  <a:srgbClr val="94A3B8"/>
                </a:solidFill>
                <a:latin typeface="Segoe UI"/>
              </a:defRPr>
            </a:pPr>
            <a:r>
              <a:t>SLIDE 07 / 08</a:t>
            </a:r>
          </a:p>
        </p:txBody>
      </p:sp>
      <p:sp>
        <p:nvSpPr>
          <p:cNvPr id="5" name="TextBox 4"/>
          <p:cNvSpPr txBox="1"/>
          <p:nvPr/>
        </p:nvSpPr>
        <p:spPr>
          <a:xfrm>
            <a:off x="731520" y="731520"/>
            <a:ext cx="10728655" cy="457200"/>
          </a:xfrm>
          <a:prstGeom prst="rect">
            <a:avLst/>
          </a:prstGeom>
          <a:noFill/>
        </p:spPr>
        <p:txBody>
          <a:bodyPr wrap="square" lIns="0" tIns="0" rIns="0" bIns="0">
            <a:spAutoFit/>
          </a:bodyPr>
          <a:lstStyle/>
          <a:p>
            <a:pPr>
              <a:defRPr sz="2100" b="1">
                <a:solidFill>
                  <a:srgbClr val="F8FAFC"/>
                </a:solidFill>
                <a:latin typeface="Segoe UI"/>
              </a:defRPr>
            </a:pPr>
            <a:r>
              <a:t>Live AI Evaluation: Evidence-Grounded Gemini Candidate Fit</a:t>
            </a:r>
          </a:p>
        </p:txBody>
      </p:sp>
      <p:sp>
        <p:nvSpPr>
          <p:cNvPr id="6" name="TextBox 5"/>
          <p:cNvSpPr txBox="1"/>
          <p:nvPr/>
        </p:nvSpPr>
        <p:spPr>
          <a:xfrm>
            <a:off x="731520" y="1207008"/>
            <a:ext cx="10728655" cy="320040"/>
          </a:xfrm>
          <a:prstGeom prst="rect">
            <a:avLst/>
          </a:prstGeom>
          <a:noFill/>
        </p:spPr>
        <p:txBody>
          <a:bodyPr wrap="square" lIns="0" tIns="0" rIns="0" bIns="0">
            <a:spAutoFit/>
          </a:bodyPr>
          <a:lstStyle/>
          <a:p>
            <a:pPr>
              <a:defRPr sz="1150">
                <a:solidFill>
                  <a:srgbClr val="94A3B8"/>
                </a:solidFill>
                <a:latin typeface="Segoe UI"/>
              </a:defRPr>
            </a:pPr>
            <a:r>
              <a:t>Targeted gap analysis and interview probing flags powered by gemini-3.8-flash</a:t>
            </a:r>
          </a:p>
        </p:txBody>
      </p:sp>
      <p:sp>
        <p:nvSpPr>
          <p:cNvPr id="7" name="Rounded Rectangle 6"/>
          <p:cNvSpPr/>
          <p:nvPr/>
        </p:nvSpPr>
        <p:spPr>
          <a:xfrm>
            <a:off x="731520" y="1645920"/>
            <a:ext cx="3246120" cy="256032"/>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00" b="1">
                <a:solidFill>
                  <a:srgbClr val="38BDF8"/>
                </a:solidFill>
                <a:latin typeface="Segoe UI"/>
              </a:defRPr>
            </a:pPr>
            <a:r>
              <a:t>Candidate Drawer &amp; Qualitative Notes</a:t>
            </a:r>
          </a:p>
        </p:txBody>
      </p:sp>
      <p:sp>
        <p:nvSpPr>
          <p:cNvPr id="8" name="Rounded Rectangle 7"/>
          <p:cNvSpPr/>
          <p:nvPr/>
        </p:nvSpPr>
        <p:spPr>
          <a:xfrm>
            <a:off x="731520" y="1938528"/>
            <a:ext cx="3246120" cy="4343400"/>
          </a:xfrm>
          <a:prstGeom prst="roundRect">
            <a:avLst/>
          </a:prstGeom>
          <a:solidFill>
            <a:srgbClr val="0F172A"/>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2-candidate-drawer.png"/>
          <p:cNvPicPr>
            <a:picLocks noChangeAspect="1"/>
          </p:cNvPicPr>
          <p:nvPr/>
        </p:nvPicPr>
        <p:blipFill>
          <a:blip r:embed="rId2"/>
          <a:stretch>
            <a:fillRect/>
          </a:stretch>
        </p:blipFill>
        <p:spPr>
          <a:xfrm>
            <a:off x="731520" y="1938528"/>
            <a:ext cx="3246120" cy="4343400"/>
          </a:xfrm>
          <a:prstGeom prst="rect">
            <a:avLst/>
          </a:prstGeom>
        </p:spPr>
      </p:pic>
      <p:sp>
        <p:nvSpPr>
          <p:cNvPr id="10" name="Rounded Rectangle 9"/>
          <p:cNvSpPr/>
          <p:nvPr/>
        </p:nvSpPr>
        <p:spPr>
          <a:xfrm>
            <a:off x="4206240" y="1645920"/>
            <a:ext cx="3246120" cy="256032"/>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900" b="1">
                <a:solidFill>
                  <a:srgbClr val="38BDF8"/>
                </a:solidFill>
                <a:latin typeface="Segoe UI"/>
              </a:defRPr>
            </a:pPr>
            <a:r>
              <a:t>Structured Gemini 3.8 Flash Fit Report</a:t>
            </a:r>
          </a:p>
        </p:txBody>
      </p:sp>
      <p:sp>
        <p:nvSpPr>
          <p:cNvPr id="11" name="Rounded Rectangle 10"/>
          <p:cNvSpPr/>
          <p:nvPr/>
        </p:nvSpPr>
        <p:spPr>
          <a:xfrm>
            <a:off x="4206240" y="1938528"/>
            <a:ext cx="3246120" cy="4343400"/>
          </a:xfrm>
          <a:prstGeom prst="roundRect">
            <a:avLst/>
          </a:prstGeom>
          <a:solidFill>
            <a:srgbClr val="0F172A"/>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3-gemini-fit-evaluation.png"/>
          <p:cNvPicPr>
            <a:picLocks noChangeAspect="1"/>
          </p:cNvPicPr>
          <p:nvPr/>
        </p:nvPicPr>
        <p:blipFill>
          <a:blip r:embed="rId3"/>
          <a:stretch>
            <a:fillRect/>
          </a:stretch>
        </p:blipFill>
        <p:spPr>
          <a:xfrm>
            <a:off x="4206240" y="1938528"/>
            <a:ext cx="3246120" cy="4343400"/>
          </a:xfrm>
          <a:prstGeom prst="rect">
            <a:avLst/>
          </a:prstGeom>
        </p:spPr>
      </p:pic>
      <p:sp>
        <p:nvSpPr>
          <p:cNvPr id="13" name="Rounded Rectangle 12"/>
          <p:cNvSpPr/>
          <p:nvPr/>
        </p:nvSpPr>
        <p:spPr>
          <a:xfrm>
            <a:off x="7680960" y="1645920"/>
            <a:ext cx="3749039" cy="475488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818CF8"/>
                </a:solidFill>
                <a:latin typeface="Segoe UI"/>
              </a:defRPr>
            </a:pPr>
            <a:r>
              <a:t>Evidence-Grounded AI Architecture</a:t>
            </a:r>
          </a:p>
          <a:p>
            <a:pPr>
              <a:spcAft>
                <a:spcPts val="550"/>
              </a:spcAft>
            </a:pPr>
            <a:r>
              <a:rPr b="1" sz="1050">
                <a:solidFill>
                  <a:srgbClr val="F8FAFC"/>
                </a:solidFill>
                <a:latin typeface="Segoe UI"/>
              </a:rPr>
              <a:t>Zero-Hallucination Retrieval: </a:t>
            </a:r>
            <a:r>
              <a:rPr sz="1050">
                <a:solidFill>
                  <a:srgbClr val="94A3B8"/>
                </a:solidFill>
                <a:latin typeface="Segoe UI"/>
              </a:rPr>
              <a:t>Candidate facts, experience, and notes are fetched strictly from SQLite on the server; client cannot spoof profile data.</a:t>
            </a:r>
          </a:p>
          <a:p>
            <a:pPr>
              <a:spcAft>
                <a:spcPts val="550"/>
              </a:spcAft>
            </a:pPr>
            <a:r>
              <a:rPr b="1" sz="1050">
                <a:solidFill>
                  <a:srgbClr val="F8FAFC"/>
                </a:solidFill>
                <a:latin typeface="Segoe UI"/>
              </a:rPr>
              <a:t>Prompt Injection Defense: </a:t>
            </a:r>
            <a:r>
              <a:rPr sz="1050">
                <a:solidFill>
                  <a:srgbClr val="94A3B8"/>
                </a:solidFill>
                <a:latin typeface="Segoe UI"/>
              </a:rPr>
              <a:t>XML fencing (&lt;job_description&gt;, &lt;candidate_profile&gt;) mitigates prompt injection attacks.</a:t>
            </a:r>
          </a:p>
          <a:p>
            <a:pPr>
              <a:spcAft>
                <a:spcPts val="550"/>
              </a:spcAft>
            </a:pPr>
            <a:r>
              <a:rPr b="1" sz="1050">
                <a:solidFill>
                  <a:srgbClr val="F8FAFC"/>
                </a:solidFill>
                <a:latin typeface="Segoe UI"/>
              </a:rPr>
              <a:t>Structured Output: </a:t>
            </a:r>
            <a:r>
              <a:rPr sz="1050">
                <a:solidFill>
                  <a:srgbClr val="94A3B8"/>
                </a:solidFill>
                <a:latin typeface="Segoe UI"/>
              </a:rPr>
              <a:t>Enforces strict JSON schema: Fit Level (Weak), Supported Skills, Missing Requirements, Experience Assessment, and Interview Probing Flags.</a:t>
            </a:r>
          </a:p>
          <a:p>
            <a:pPr>
              <a:spcAft>
                <a:spcPts val="550"/>
              </a:spcAft>
            </a:pPr>
            <a:r>
              <a:rPr b="1" sz="1050">
                <a:solidFill>
                  <a:srgbClr val="F8FAFC"/>
                </a:solidFill>
                <a:latin typeface="Segoe UI"/>
              </a:rPr>
              <a:t>Recruiter Decision Support: </a:t>
            </a:r>
            <a:r>
              <a:rPr sz="1050">
                <a:solidFill>
                  <a:srgbClr val="94A3B8"/>
                </a:solidFill>
                <a:latin typeface="Segoe UI"/>
              </a:rPr>
              <a:t>Surfaces concrete evidence gaps for human probing, rather than automated black-box rejections.</a:t>
            </a:r>
          </a:p>
          <a:p>
            <a:pPr>
              <a:spcAft>
                <a:spcPts val="550"/>
              </a:spcAft>
            </a:pPr>
            <a:r>
              <a:rPr b="1" sz="1050">
                <a:solidFill>
                  <a:srgbClr val="F8FAFC"/>
                </a:solidFill>
                <a:latin typeface="Segoe UI"/>
              </a:rPr>
              <a:t>Provider Resilience: </a:t>
            </a:r>
            <a:r>
              <a:rPr sz="1050">
                <a:solidFill>
                  <a:srgbClr val="94A3B8"/>
                </a:solidFill>
                <a:latin typeface="Segoe UI"/>
              </a:rPr>
              <a:t>100% mocked automated tests covering 429 rate limits, 503 auth failures, 422 safety blocks, and 502 malformed outputs.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84048"/>
            <a:ext cx="2926080" cy="292608"/>
          </a:xfrm>
          <a:prstGeom prst="roundRect">
            <a:avLst/>
          </a:prstGeom>
          <a:solidFill>
            <a:srgbClr val="1E293B"/>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950" b="1">
                <a:solidFill>
                  <a:srgbClr val="38BDF8"/>
                </a:solidFill>
                <a:latin typeface="Segoe UI"/>
              </a:defRPr>
            </a:pPr>
            <a:r>
              <a:t>SCALE &amp; FUTURE VISION</a:t>
            </a:r>
          </a:p>
        </p:txBody>
      </p:sp>
      <p:sp>
        <p:nvSpPr>
          <p:cNvPr id="4" name="TextBox 3"/>
          <p:cNvSpPr txBox="1"/>
          <p:nvPr/>
        </p:nvSpPr>
        <p:spPr>
          <a:xfrm>
            <a:off x="9601200" y="384048"/>
            <a:ext cx="1858975" cy="292608"/>
          </a:xfrm>
          <a:prstGeom prst="rect">
            <a:avLst/>
          </a:prstGeom>
          <a:noFill/>
        </p:spPr>
        <p:txBody>
          <a:bodyPr wrap="none" tIns="0" bIns="0" lIns="0" rIns="0">
            <a:spAutoFit/>
          </a:bodyPr>
          <a:lstStyle/>
          <a:p>
            <a:pPr algn="r">
              <a:defRPr sz="1000" b="1">
                <a:solidFill>
                  <a:srgbClr val="94A3B8"/>
                </a:solidFill>
                <a:latin typeface="Segoe UI"/>
              </a:defRPr>
            </a:pPr>
            <a:r>
              <a:t>SLIDE 08 / 08</a:t>
            </a:r>
          </a:p>
        </p:txBody>
      </p:sp>
      <p:sp>
        <p:nvSpPr>
          <p:cNvPr id="5" name="TextBox 4"/>
          <p:cNvSpPr txBox="1"/>
          <p:nvPr/>
        </p:nvSpPr>
        <p:spPr>
          <a:xfrm>
            <a:off x="731520" y="731520"/>
            <a:ext cx="10728655" cy="457200"/>
          </a:xfrm>
          <a:prstGeom prst="rect">
            <a:avLst/>
          </a:prstGeom>
          <a:noFill/>
        </p:spPr>
        <p:txBody>
          <a:bodyPr wrap="square" lIns="0" tIns="0" rIns="0" bIns="0">
            <a:spAutoFit/>
          </a:bodyPr>
          <a:lstStyle/>
          <a:p>
            <a:pPr>
              <a:defRPr sz="2100" b="1">
                <a:solidFill>
                  <a:srgbClr val="F8FAFC"/>
                </a:solidFill>
                <a:latin typeface="Segoe UI"/>
              </a:defRPr>
            </a:pPr>
            <a:r>
              <a:t>Scaling to 3,000 Candidates/Week &amp; Production Roadmap</a:t>
            </a:r>
          </a:p>
        </p:txBody>
      </p:sp>
      <p:sp>
        <p:nvSpPr>
          <p:cNvPr id="6" name="TextBox 5"/>
          <p:cNvSpPr txBox="1"/>
          <p:nvPr/>
        </p:nvSpPr>
        <p:spPr>
          <a:xfrm>
            <a:off x="731520" y="1207008"/>
            <a:ext cx="10728655" cy="320040"/>
          </a:xfrm>
          <a:prstGeom prst="rect">
            <a:avLst/>
          </a:prstGeom>
          <a:noFill/>
        </p:spPr>
        <p:txBody>
          <a:bodyPr wrap="square" lIns="0" tIns="0" rIns="0" bIns="0">
            <a:spAutoFit/>
          </a:bodyPr>
          <a:lstStyle/>
          <a:p>
            <a:pPr>
              <a:defRPr sz="1150">
                <a:solidFill>
                  <a:srgbClr val="94A3B8"/>
                </a:solidFill>
                <a:latin typeface="Segoe UI"/>
              </a:defRPr>
            </a:pPr>
            <a:r>
              <a:t>Practical engineering judgment under 2-engineer/2-week constraints and sprint roadmap</a:t>
            </a:r>
          </a:p>
        </p:txBody>
      </p:sp>
      <p:sp>
        <p:nvSpPr>
          <p:cNvPr id="7" name="Rounded Rectangle 6"/>
          <p:cNvSpPr/>
          <p:nvPr/>
        </p:nvSpPr>
        <p:spPr>
          <a:xfrm>
            <a:off x="731520" y="1645920"/>
            <a:ext cx="5212080" cy="475488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38BDF8"/>
                </a:solidFill>
                <a:latin typeface="Segoe UI"/>
              </a:defRPr>
            </a:pPr>
            <a:r>
              <a:t>Scaling to 3,000/Wk (2 Devs, 2 Weeks)</a:t>
            </a:r>
          </a:p>
          <a:p>
            <a:pPr>
              <a:spcAft>
                <a:spcPts val="550"/>
              </a:spcAft>
            </a:pPr>
            <a:r>
              <a:rPr b="1" sz="1050">
                <a:solidFill>
                  <a:srgbClr val="F8FAFC"/>
                </a:solidFill>
                <a:latin typeface="Segoe UI"/>
              </a:rPr>
              <a:t>The #1 Defensible Risk: </a:t>
            </a:r>
            <a:r>
              <a:rPr sz="1050">
                <a:solidFill>
                  <a:srgbClr val="94A3B8"/>
                </a:solidFill>
                <a:latin typeface="Segoe UI"/>
              </a:rPr>
              <a:t>Skill tag vocabulary variance ('Postgres' vs 'RDBMS'). A naive top-10% keyword pre-filter creates severe false negatives, silently rejecting non-traditional candidates.</a:t>
            </a:r>
          </a:p>
          <a:p>
            <a:pPr>
              <a:spcAft>
                <a:spcPts val="550"/>
              </a:spcAft>
            </a:pPr>
            <a:r>
              <a:rPr b="1" sz="1050">
                <a:solidFill>
                  <a:srgbClr val="F8FAFC"/>
                </a:solidFill>
                <a:latin typeface="Segoe UI"/>
              </a:rPr>
              <a:t>Per-Requisition Intake: </a:t>
            </a:r>
            <a:r>
              <a:rPr sz="1050">
                <a:solidFill>
                  <a:srgbClr val="94A3B8"/>
                </a:solidFill>
                <a:latin typeface="Segoe UI"/>
              </a:rPr>
              <a:t>Candidates apply across distinct roles; ingest asynchronously via BullMQ/Redis buffer (~430 candidates/day).</a:t>
            </a:r>
          </a:p>
          <a:p>
            <a:pPr>
              <a:spcAft>
                <a:spcPts val="550"/>
              </a:spcAft>
            </a:pPr>
            <a:r>
              <a:rPr b="1" sz="1050">
                <a:solidFill>
                  <a:srgbClr val="F8FAFC"/>
                </a:solidFill>
                <a:latin typeface="Segoe UI"/>
              </a:rPr>
              <a:t>Recruiter-Selected Triage: </a:t>
            </a:r>
            <a:r>
              <a:rPr sz="1050">
                <a:solidFill>
                  <a:srgbClr val="94A3B8"/>
                </a:solidFill>
                <a:latin typeface="Segoe UI"/>
              </a:rPr>
              <a:t>Present ranked candidates per open role; allow recruiters to select candidate batches for LLM evaluation rather than an automated top-10% cutoff.</a:t>
            </a:r>
          </a:p>
          <a:p>
            <a:pPr>
              <a:spcAft>
                <a:spcPts val="550"/>
              </a:spcAft>
            </a:pPr>
            <a:r>
              <a:rPr b="1" sz="1050">
                <a:solidFill>
                  <a:srgbClr val="F8FAFC"/>
                </a:solidFill>
                <a:latin typeface="Segoe UI"/>
              </a:rPr>
              <a:t>Hashed Evaluation Caching: </a:t>
            </a:r>
            <a:r>
              <a:rPr sz="1050">
                <a:solidFill>
                  <a:srgbClr val="94A3B8"/>
                </a:solidFill>
                <a:latin typeface="Segoe UI"/>
              </a:rPr>
              <a:t>Cache fit evaluations by SHA256(candidateId + jdHash) in Redis to eliminate redundant token consumption.</a:t>
            </a:r>
          </a:p>
          <a:p>
            <a:pPr>
              <a:spcAft>
                <a:spcPts val="550"/>
              </a:spcAft>
            </a:pPr>
            <a:r>
              <a:rPr b="1" sz="1050">
                <a:solidFill>
                  <a:srgbClr val="F8FAFC"/>
                </a:solidFill>
                <a:latin typeface="Segoe UI"/>
              </a:rPr>
              <a:t>Audit Logging &amp; Compliance: </a:t>
            </a:r>
            <a:r>
              <a:rPr sz="1050">
                <a:solidFill>
                  <a:srgbClr val="94A3B8"/>
                </a:solidFill>
                <a:latin typeface="Segoe UI"/>
              </a:rPr>
              <a:t>Maintain append-only triage audit trail ensuring compliance with NYC Local Law 144 / EEOC guidelines.</a:t>
            </a:r>
          </a:p>
        </p:txBody>
      </p:sp>
      <p:sp>
        <p:nvSpPr>
          <p:cNvPr id="8" name="Rounded Rectangle 7"/>
          <p:cNvSpPr/>
          <p:nvPr/>
        </p:nvSpPr>
        <p:spPr>
          <a:xfrm>
            <a:off x="6217920" y="1645920"/>
            <a:ext cx="5212080" cy="4754880"/>
          </a:xfrm>
          <a:prstGeom prst="roundRect">
            <a:avLst/>
          </a:prstGeom>
          <a:solidFill>
            <a:srgbClr val="161F30"/>
          </a:solidFill>
          <a:ln w="12700">
            <a:solidFill>
              <a:srgbClr val="2A3B53"/>
            </a:solidFill>
          </a:ln>
        </p:spPr>
        <p:style>
          <a:lnRef idx="1">
            <a:schemeClr val="accent1"/>
          </a:lnRef>
          <a:fillRef idx="3">
            <a:schemeClr val="accent1"/>
          </a:fillRef>
          <a:effectRef idx="2">
            <a:schemeClr val="accent1"/>
          </a:effectRef>
          <a:fontRef idx="minor">
            <a:schemeClr val="lt1"/>
          </a:fontRef>
        </p:style>
        <p:txBody>
          <a:bodyPr rtlCol="0" anchor="ctr" wrap="square" lIns="219456" rIns="219456" tIns="182880" bIns="182880"/>
          <a:lstStyle/>
          <a:p>
            <a:pPr algn="ctr">
              <a:spcAft>
                <a:spcPts val="800"/>
              </a:spcAft>
              <a:defRPr sz="1350" b="1">
                <a:solidFill>
                  <a:srgbClr val="818CF8"/>
                </a:solidFill>
                <a:latin typeface="Segoe UI"/>
              </a:defRPr>
            </a:pPr>
            <a:r>
              <a:t>Next 2-Week Production Sprint</a:t>
            </a:r>
          </a:p>
          <a:p>
            <a:pPr>
              <a:spcAft>
                <a:spcPts val="550"/>
              </a:spcAft>
            </a:pPr>
            <a:r>
              <a:rPr b="1" sz="1050">
                <a:solidFill>
                  <a:srgbClr val="F8FAFC"/>
                </a:solidFill>
                <a:latin typeface="Segoe UI"/>
              </a:rPr>
              <a:t>Inverted Skill Index: </a:t>
            </a:r>
            <a:r>
              <a:rPr sz="1050">
                <a:solidFill>
                  <a:srgbClr val="94A3B8"/>
                </a:solidFill>
                <a:latin typeface="Segoe UI"/>
              </a:rPr>
              <a:t>Build an in-memory inverted index for sub-10ms candidate search across high-volume corpora.</a:t>
            </a:r>
          </a:p>
          <a:p>
            <a:pPr>
              <a:spcAft>
                <a:spcPts val="550"/>
              </a:spcAft>
            </a:pPr>
            <a:r>
              <a:rPr b="1" sz="1050">
                <a:solidFill>
                  <a:srgbClr val="F8FAFC"/>
                </a:solidFill>
                <a:latin typeface="Segoe UI"/>
              </a:rPr>
              <a:t>Local Vector Search: </a:t>
            </a:r>
            <a:r>
              <a:rPr sz="1050">
                <a:solidFill>
                  <a:srgbClr val="94A3B8"/>
                </a:solidFill>
                <a:latin typeface="Segoe UI"/>
              </a:rPr>
              <a:t>Integrate sqlite-vss embeddings over qualitative recruiter notes to surface soft-skill matches.</a:t>
            </a:r>
          </a:p>
          <a:p>
            <a:pPr>
              <a:spcAft>
                <a:spcPts val="550"/>
              </a:spcAft>
            </a:pPr>
            <a:r>
              <a:rPr b="1" sz="1050">
                <a:solidFill>
                  <a:srgbClr val="F8FAFC"/>
                </a:solidFill>
                <a:latin typeface="Segoe UI"/>
              </a:rPr>
              <a:t>Two-Way ATS Sync: </a:t>
            </a:r>
            <a:r>
              <a:rPr sz="1050">
                <a:solidFill>
                  <a:srgbClr val="94A3B8"/>
                </a:solidFill>
                <a:latin typeface="Segoe UI"/>
              </a:rPr>
              <a:t>Webhook integrations with Greenhouse and Lever for automated candidate imports and two-way status export.</a:t>
            </a:r>
          </a:p>
          <a:p>
            <a:pPr>
              <a:spcAft>
                <a:spcPts val="550"/>
              </a:spcAft>
            </a:pPr>
            <a:r>
              <a:rPr b="1" sz="1050">
                <a:solidFill>
                  <a:srgbClr val="F8FAFC"/>
                </a:solidFill>
                <a:latin typeface="Segoe UI"/>
              </a:rPr>
              <a:t>Persistent Evaluation Store: </a:t>
            </a:r>
            <a:r>
              <a:rPr sz="1050">
                <a:solidFill>
                  <a:srgbClr val="94A3B8"/>
                </a:solidFill>
                <a:latin typeface="Segoe UI"/>
              </a:rPr>
              <a:t>Create an evaluations table in SQLite to persist LLM fit summaries and track recruiter agreement rates over time.</a:t>
            </a:r>
          </a:p>
          <a:p>
            <a:pPr>
              <a:spcAft>
                <a:spcPts val="550"/>
              </a:spcAft>
            </a:pPr>
            <a:r>
              <a:rPr b="1" sz="1050">
                <a:solidFill>
                  <a:srgbClr val="F8FAFC"/>
                </a:solidFill>
                <a:latin typeface="Segoe UI"/>
              </a:rPr>
              <a:t>Foundation Delivered: </a:t>
            </a:r>
            <a:r>
              <a:rPr sz="1050">
                <a:solidFill>
                  <a:srgbClr val="94A3B8"/>
                </a:solidFill>
                <a:latin typeface="Segoe UI"/>
              </a:rPr>
              <a:t>75 automated tests (65 backend in ~25s, 10 frontend in ~2.8s), zero failures, production build verified.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